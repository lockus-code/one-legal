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slideMasters/slideMaster16.xml" ContentType="application/vnd.openxmlformats-officedocument.presentationml.slideMaster+xml"/>
  <Override PartName="/ppt/slides/slide16.xml" ContentType="application/vnd.openxmlformats-officedocument.presentationml.slide+xml"/>
  <Override PartName="/ppt/slideMasters/slideMaster17.xml" ContentType="application/vnd.openxmlformats-officedocument.presentationml.slideMaster+xml"/>
  <Override PartName="/ppt/slides/slide17.xml" ContentType="application/vnd.openxmlformats-officedocument.presentationml.slide+xml"/>
  <Override PartName="/ppt/slideMasters/slideMaster18.xml" ContentType="application/vnd.openxmlformats-officedocument.presentationml.slideMaster+xml"/>
  <Override PartName="/ppt/slides/slide18.xml" ContentType="application/vnd.openxmlformats-officedocument.presentationml.slide+xml"/>
  <Override PartName="/ppt/slideMasters/slideMaster19.xml" ContentType="application/vnd.openxmlformats-officedocument.presentationml.slideMaster+xml"/>
  <Override PartName="/ppt/slides/slide19.xml" ContentType="application/vnd.openxmlformats-officedocument.presentationml.slide+xml"/>
  <Override PartName="/ppt/slideMasters/slideMaster20.xml" ContentType="application/vnd.openxmlformats-officedocument.presentationml.slideMaster+xml"/>
  <Override PartName="/ppt/slides/slide20.xml" ContentType="application/vnd.openxmlformats-officedocument.presentationml.slide+xml"/>
  <Override PartName="/ppt/slideMasters/slideMaster21.xml" ContentType="application/vnd.openxmlformats-officedocument.presentationml.slideMaster+xml"/>
  <Override PartName="/ppt/slides/slide21.xml" ContentType="application/vnd.openxmlformats-officedocument.presentationml.slide+xml"/>
  <Override PartName="/ppt/slideMasters/slideMaster22.xml" ContentType="application/vnd.openxmlformats-officedocument.presentationml.slideMaster+xml"/>
  <Override PartName="/ppt/slides/slide22.xml" ContentType="application/vnd.openxmlformats-officedocument.presentationml.slide+xml"/>
  <Override PartName="/ppt/slideMasters/slideMaster23.xml" ContentType="application/vnd.openxmlformats-officedocument.presentationml.slideMaster+xml"/>
  <Override PartName="/ppt/slides/slide23.xml" ContentType="application/vnd.openxmlformats-officedocument.presentationml.slide+xml"/>
  <Override PartName="/ppt/slideMasters/slideMaster24.xml" ContentType="application/vnd.openxmlformats-officedocument.presentationml.slideMaster+xml"/>
  <Override PartName="/ppt/slides/slide24.xml" ContentType="application/vnd.openxmlformats-officedocument.presentationml.slide+xml"/>
  <Override PartName="/ppt/slideMasters/slideMaster25.xml" ContentType="application/vnd.openxmlformats-officedocument.presentationml.slideMaster+xml"/>
  <Override PartName="/ppt/slides/slide25.xml" ContentType="application/vnd.openxmlformats-officedocument.presentationml.slide+xml"/>
  <Override PartName="/ppt/slideMasters/slideMaster26.xml" ContentType="application/vnd.openxmlformats-officedocument.presentationml.slideMaster+xml"/>
  <Override PartName="/ppt/slides/slide26.xml" ContentType="application/vnd.openxmlformats-officedocument.presentationml.slide+xml"/>
  <Override PartName="/ppt/slideMasters/slideMaster27.xml" ContentType="application/vnd.openxmlformats-officedocument.presentationml.slideMaster+xml"/>
  <Override PartName="/ppt/slides/slide27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27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6" r:id="rId22"/>
    <p:sldId id="277" r:id="rId23"/>
    <p:sldId id="278" r:id="rId24"/>
    <p:sldId id="279" r:id="rId25"/>
    <p:sldId id="280" r:id="rId26"/>
    <p:sldId id="281" r:id="rId27"/>
    <p:sldId id="282" r:id="rId28"/>
  </p:sldIdLst>
  <p:notesMasterIdLst>
    <p:notesMasterId r:id="rId29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521415D9-36F7-43E2-AB2F-B90AF26B5E84}">
      <p14:sectionLst xmlns:p14="http://schemas.microsoft.com/office/powerpoint/2010/main">
        <p14:section name="Introducción" id="{691139d3-8d6a-c763-2d67-9df234fdd2e0}">
          <p14:sldIdLst>
            <p14:sldId id="256"/>
            <p14:sldId id="257"/>
            <p14:sldId id="258"/>
          </p14:sldIdLst>
        </p14:section>
        <p14:section name="Gerencia" id="{cd2fc5a2-e132-f12f-1ad0-e249f8e768f9}">
          <p14:sldIdLst>
            <p14:sldId id="259"/>
            <p14:sldId id="260"/>
            <p14:sldId id="261"/>
            <p14:sldId id="262"/>
            <p14:sldId id="263"/>
            <p14:sldId id="264"/>
            <p14:sldId id="265"/>
            <p14:sldId id="266"/>
            <p14:sldId id="267"/>
            <p14:sldId id="268"/>
            <p14:sldId id="269"/>
          </p14:sldIdLst>
        </p14:section>
        <p14:section name="Profesional (abogado)" id="{da851029-6644-01e6-6f69-51ffa4511234}">
          <p14:sldIdLst>
            <p14:sldId id="270"/>
            <p14:sldId id="271"/>
            <p14:sldId id="272"/>
            <p14:sldId id="273"/>
            <p14:sldId id="274"/>
            <p14:sldId id="275"/>
            <p14:sldId id="276"/>
            <p14:sldId id="277"/>
            <p14:sldId id="278"/>
            <p14:sldId id="279"/>
            <p14:sldId id="280"/>
            <p14:sldId id="281"/>
          </p14:sldIdLst>
        </p14:section>
        <p14:section name="Cierre" id="{0647ae0c-196e-6c12-ecc1-1d823c91cf91}">
          <p14:sldIdLst>
            <p14:sldId id="282"/>
          </p14:sldIdLst>
        </p14:section>
      </p14:sectionLst>
    </p:ex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slide" Target="slides/slide17.xml"/><Relationship Id="rId19" Type="http://schemas.openxmlformats.org/officeDocument/2006/relationships/slide" Target="slides/slide18.xml"/><Relationship Id="rId20" Type="http://schemas.openxmlformats.org/officeDocument/2006/relationships/slide" Target="slides/slide19.xml"/><Relationship Id="rId21" Type="http://schemas.openxmlformats.org/officeDocument/2006/relationships/slide" Target="slides/slide20.xml"/><Relationship Id="rId22" Type="http://schemas.openxmlformats.org/officeDocument/2006/relationships/slide" Target="slides/slide21.xml"/><Relationship Id="rId23" Type="http://schemas.openxmlformats.org/officeDocument/2006/relationships/slide" Target="slides/slide22.xml"/><Relationship Id="rId24" Type="http://schemas.openxmlformats.org/officeDocument/2006/relationships/slide" Target="slides/slide23.xml"/><Relationship Id="rId25" Type="http://schemas.openxmlformats.org/officeDocument/2006/relationships/slide" Target="slides/slide24.xml"/><Relationship Id="rId26" Type="http://schemas.openxmlformats.org/officeDocument/2006/relationships/slide" Target="slides/slide25.xml"/><Relationship Id="rId27" Type="http://schemas.openxmlformats.org/officeDocument/2006/relationships/slide" Target="slides/slide26.xml"/><Relationship Id="rId28" Type="http://schemas.openxmlformats.org/officeDocument/2006/relationships/slide" Target="slides/slide27.xml"/><Relationship Id="rId29" Type="http://schemas.openxmlformats.org/officeDocument/2006/relationships/notesMaster" Target="notesMasters/notesMaster1.xml"/><Relationship Id="rId30" Type="http://schemas.openxmlformats.org/officeDocument/2006/relationships/presProps" Target="presProps.xml"/><Relationship Id="rId31" Type="http://schemas.openxmlformats.org/officeDocument/2006/relationships/viewProps" Target="viewProps.xml"/><Relationship Id="rId32" Type="http://schemas.openxmlformats.org/officeDocument/2006/relationships/theme" Target="theme/theme1.xml"/><Relationship Id="rId33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_rels/notesSlide1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6.xml"/>
		</Relationships>
</file>

<file path=ppt/notesSlides/_rels/notesSlide1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7.xml"/>
		</Relationships>
</file>

<file path=ppt/notesSlides/_rels/notesSlide1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8.xml"/>
		</Relationships>
</file>

<file path=ppt/notesSlides/_rels/notesSlide1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9.xml"/>
		</Relationships>
</file>

<file path=ppt/notesSlides/_rels/notesSlide2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0.xml"/>
		</Relationships>
</file>

<file path=ppt/notesSlides/_rels/notesSlide2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1.xml"/>
		</Relationships>
</file>

<file path=ppt/notesSlides/_rels/notesSlide2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2.xml"/>
		</Relationships>
</file>

<file path=ppt/notesSlides/_rels/notesSlide2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3.xml"/>
		</Relationships>
</file>

<file path=ppt/notesSlides/_rels/notesSlide2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4.xml"/>
		</Relationships>
</file>

<file path=ppt/notesSlides/_rels/notesSlide2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5.xml"/>
		</Relationships>
</file>

<file path=ppt/notesSlides/_rels/notesSlide2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6.xml"/>
		</Relationships>
</file>

<file path=ppt/notesSlides/_rels/notesSlide2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7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Presentación de los módulos y funcionalidades del portal LEGAL para los roles de Gerencia y Profesional (abogado). Las capturas corresponden al sistema real con datos de demostración.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PORTADA">
    <p:bg>
      <p:bgPr>
        <a:solidFill>
          <a:srgbClr val="14305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731520" y="2011680"/>
            <a:ext cx="7498080" cy="1737360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l" indent="0" marL="0">
              <a:buNone/>
              <a:defRPr lang="en-US" sz="4400" b="1" dirty="0">
                <a:solidFill>
                  <a:schemeClr val="bg1"/>
                </a:solidFill>
                <a:latin typeface="Cambria" pitchFamily="34" charset="0"/>
                <a:ea typeface="Cambria" pitchFamily="34" charset="-122"/>
                <a:cs typeface="Cambria" pitchFamily="34" charset="-120"/>
              </a:defRPr>
            </a:lvl1pPr>
          </a:lstStyle>
          <a:p>
            <a:pPr algn="l" indent="0" marL="0">
              <a:buNone/>
            </a:pPr>
            <a:endParaRPr lang="en-US" sz="4400" dirty="0"/>
          </a:p>
        </p:txBody>
      </p:sp>
      <p:sp>
        <p:nvSpPr>
          <p:cNvPr id="3" name="Text 0"/>
          <p:cNvSpPr/>
          <p:nvPr>
            <p:ph idx="101" type="body" hasCustomPrompt="1"/>
          </p:nvPr>
        </p:nvSpPr>
        <p:spPr>
          <a:xfrm>
            <a:off x="731520" y="3931920"/>
            <a:ext cx="7498080" cy="914400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l" indent="0" marL="0">
              <a:buNone/>
              <a:defRPr lang="en-US" sz="2000" dirty="0">
                <a:solidFill>
                  <a:srgbClr val="CADCFC"/>
                </a:solidFill>
              </a:defRPr>
            </a:lvl1pPr>
          </a:lstStyle>
          <a:p>
            <a:pPr algn="l" indent="0" marL="0">
              <a:buNone/>
            </a:pPr>
            <a:endParaRPr lang="en-US" sz="2000" dirty="0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ECCION">
    <p:bg>
      <p:bgPr>
        <a:solidFill>
          <a:srgbClr val="14305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731520" y="1463040"/>
            <a:ext cx="5852160" cy="1188720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l" indent="0" marL="0">
              <a:buNone/>
              <a:defRPr lang="en-US" sz="4400" b="1" dirty="0">
                <a:solidFill>
                  <a:schemeClr val="bg1"/>
                </a:solidFill>
                <a:latin typeface="Cambria" pitchFamily="34" charset="0"/>
                <a:ea typeface="Cambria" pitchFamily="34" charset="-122"/>
                <a:cs typeface="Cambria" pitchFamily="34" charset="-120"/>
              </a:defRPr>
            </a:lvl1pPr>
          </a:lstStyle>
          <a:p>
            <a:pPr algn="l" indent="0" marL="0">
              <a:buNone/>
            </a:pPr>
            <a:endParaRPr lang="en-US" sz="4400" dirty="0"/>
          </a:p>
        </p:txBody>
      </p:sp>
      <p:sp>
        <p:nvSpPr>
          <p:cNvPr id="3" name="Text 0"/>
          <p:cNvSpPr/>
          <p:nvPr>
            <p:ph idx="101" type="body" hasCustomPrompt="1"/>
          </p:nvPr>
        </p:nvSpPr>
        <p:spPr>
          <a:xfrm>
            <a:off x="731520" y="2788920"/>
            <a:ext cx="5486400" cy="1097280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l" indent="0" marL="0">
              <a:buNone/>
              <a:defRPr lang="en-US" sz="1800" dirty="0">
                <a:solidFill>
                  <a:srgbClr val="CADCFC"/>
                </a:solidFill>
              </a:defRPr>
            </a:lvl1pPr>
          </a:lstStyle>
          <a:p>
            <a:pPr algn="l" indent="0" marL="0">
              <a:buNone/>
            </a:pPr>
            <a:endParaRPr lang="en-US" sz="1800" dirty="0"/>
          </a:p>
        </p:txBody>
      </p:sp>
      <p:sp>
        <p:nvSpPr>
          <p:cNvPr id="4" name="Text 0"/>
          <p:cNvSpPr/>
          <p:nvPr/>
        </p:nvSpPr>
        <p:spPr>
          <a:xfrm>
            <a:off x="548640" y="640080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9FB3D1"/>
                </a:solidFill>
              </a:rPr>
              <a:t>LEGAL · Gestión de procesos legales</a:t>
            </a:r>
            <a:endParaRPr lang="en-US" sz="10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55680" y="640080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9FB3D1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1003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NTENIDO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11064240" cy="640080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l" indent="0" marL="0">
              <a:buNone/>
              <a:defRPr lang="en-US" sz="3200" b="1" dirty="0">
                <a:solidFill>
                  <a:schemeClr val="tx2"/>
                </a:solidFill>
                <a:latin typeface="Cambria" pitchFamily="34" charset="0"/>
                <a:ea typeface="Cambria" pitchFamily="34" charset="-122"/>
                <a:cs typeface="Cambria" pitchFamily="34" charset="-120"/>
              </a:defRPr>
            </a:lvl1pPr>
          </a:lstStyle>
          <a:p>
            <a:pPr algn="l" indent="0" marL="0">
              <a:buNone/>
            </a:pPr>
            <a:endParaRPr lang="en-US" sz="3200" dirty="0"/>
          </a:p>
        </p:txBody>
      </p:sp>
      <p:sp>
        <p:nvSpPr>
          <p:cNvPr id="3" name="Text 0"/>
          <p:cNvSpPr/>
          <p:nvPr>
            <p:ph idx="101" type="body" hasCustomPrompt="1"/>
          </p:nvPr>
        </p:nvSpPr>
        <p:spPr>
          <a:xfrm>
            <a:off x="548640" y="960120"/>
            <a:ext cx="11064240" cy="384048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l" indent="0" marL="0">
              <a:buNone/>
              <a:defRPr lang="en-US" sz="1600" dirty="0">
                <a:solidFill>
                  <a:schemeClr val="accent6"/>
                </a:solidFill>
              </a:defRPr>
            </a:lvl1pPr>
          </a:lstStyle>
          <a:p>
            <a:pPr algn="l" indent="0" marL="0">
              <a:buNone/>
            </a:pPr>
            <a:endParaRPr lang="en-US" sz="1600" dirty="0"/>
          </a:p>
        </p:txBody>
      </p:sp>
      <p:sp>
        <p:nvSpPr>
          <p:cNvPr id="4" name="Text 0"/>
          <p:cNvSpPr/>
          <p:nvPr/>
        </p:nvSpPr>
        <p:spPr>
          <a:xfrm>
            <a:off x="548640" y="640080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8A97AB"/>
                </a:solidFill>
              </a:rPr>
              <a:t>LEGAL · Gestión de procesos legales</a:t>
            </a:r>
            <a:endParaRPr lang="en-US" sz="10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55680" y="640080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8A97AB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1004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55680" y="640080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9FB3D1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null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-1.png"/><Relationship Id="rId2" Type="http://schemas.openxmlformats.org/officeDocument/2006/relationships/image" Target="../media/image-2-2.png"/><Relationship Id="rId3" Type="http://schemas.openxmlformats.org/officeDocument/2006/relationships/image" Target="../media/image-2-3.png"/><Relationship Id="rId4" Type="http://schemas.openxmlformats.org/officeDocument/2006/relationships/image" Target="../media/image-2-4.png"/><Relationship Id="rId5" Type="http://schemas.openxmlformats.org/officeDocument/2006/relationships/slideLayout" Target="../slideLayouts/slideLayout4.xml"/><Relationship Id="rId6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-1.png"/><Relationship Id="rId2" Type="http://schemas.openxmlformats.org/officeDocument/2006/relationships/image" Target="../media/image-3-2.png"/><Relationship Id="rId3" Type="http://schemas.openxmlformats.org/officeDocument/2006/relationships/image" Target="../media/image-3-3.png"/><Relationship Id="rId4" Type="http://schemas.openxmlformats.org/officeDocument/2006/relationships/image" Target="../media/image-3-4.png"/><Relationship Id="rId5" Type="http://schemas.openxmlformats.org/officeDocument/2006/relationships/image" Target="../media/image-3-5.png"/><Relationship Id="rId6" Type="http://schemas.openxmlformats.org/officeDocument/2006/relationships/slideLayout" Target="../slideLayouts/slideLayout4.xml"/><Relationship Id="rId7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-1.png"/><Relationship Id="rId2" Type="http://schemas.openxmlformats.org/officeDocument/2006/relationships/image" Target="../media/image-4-2.png"/><Relationship Id="rId3" Type="http://schemas.openxmlformats.org/officeDocument/2006/relationships/image" Target="../media/image-4-3.png"/><Relationship Id="rId4" Type="http://schemas.openxmlformats.org/officeDocument/2006/relationships/image" Target="../media/image-4-4.png"/><Relationship Id="rId5" Type="http://schemas.openxmlformats.org/officeDocument/2006/relationships/image" Target="../media/image-4-5.png"/><Relationship Id="rId6" Type="http://schemas.openxmlformats.org/officeDocument/2006/relationships/slideLayout" Target="../slideLayouts/slideLayout3.xml"/><Relationship Id="rId7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-1.jpg"/><Relationship Id="rId2" Type="http://schemas.openxmlformats.org/officeDocument/2006/relationships/slideLayout" Target="../slideLayouts/slideLayout4.xml"/><Relationship Id="rId3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7-1.jpg"/><Relationship Id="rId2" Type="http://schemas.openxmlformats.org/officeDocument/2006/relationships/slideLayout" Target="../slideLayouts/slideLayout4.xml"/><Relationship Id="rId3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8-1.jpg"/><Relationship Id="rId2" Type="http://schemas.openxmlformats.org/officeDocument/2006/relationships/slideLayout" Target="../slideLayouts/slideLayout4.xml"/><Relationship Id="rId3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9-1.jpg"/><Relationship Id="rId2" Type="http://schemas.openxmlformats.org/officeDocument/2006/relationships/slideLayout" Target="../slideLayouts/slideLayout4.xml"/><Relationship Id="rId3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0-1.jpg"/><Relationship Id="rId2" Type="http://schemas.openxmlformats.org/officeDocument/2006/relationships/image" Target="../media/image-10-2.jpg"/><Relationship Id="rId3" Type="http://schemas.openxmlformats.org/officeDocument/2006/relationships/slideLayout" Target="../slideLayouts/slideLayout4.xml"/><Relationship Id="rId4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1-1.jpg"/><Relationship Id="rId2" Type="http://schemas.openxmlformats.org/officeDocument/2006/relationships/slideLayout" Target="../slideLayouts/slideLayout4.xml"/><Relationship Id="rId3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2-1.jpg"/><Relationship Id="rId2" Type="http://schemas.openxmlformats.org/officeDocument/2006/relationships/slideLayout" Target="../slideLayouts/slideLayout4.xml"/><Relationship Id="rId3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3-1.jpg"/><Relationship Id="rId2" Type="http://schemas.openxmlformats.org/officeDocument/2006/relationships/slideLayout" Target="../slideLayouts/slideLayout4.xml"/><Relationship Id="rId3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4-1.jpg"/><Relationship Id="rId2" Type="http://schemas.openxmlformats.org/officeDocument/2006/relationships/slideLayout" Target="../slideLayouts/slideLayout4.xml"/><Relationship Id="rId3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5-1.png"/><Relationship Id="rId2" Type="http://schemas.openxmlformats.org/officeDocument/2006/relationships/image" Target="../media/image-15-2.png"/><Relationship Id="rId3" Type="http://schemas.openxmlformats.org/officeDocument/2006/relationships/image" Target="../media/image-15-3.png"/><Relationship Id="rId4" Type="http://schemas.openxmlformats.org/officeDocument/2006/relationships/image" Target="../media/image-15-4.png"/><Relationship Id="rId5" Type="http://schemas.openxmlformats.org/officeDocument/2006/relationships/image" Target="../media/image-15-5.png"/><Relationship Id="rId6" Type="http://schemas.openxmlformats.org/officeDocument/2006/relationships/image" Target="../media/image-15-6.png"/><Relationship Id="rId7" Type="http://schemas.openxmlformats.org/officeDocument/2006/relationships/image" Target="../media/image-15-7.png"/><Relationship Id="rId8" Type="http://schemas.openxmlformats.org/officeDocument/2006/relationships/slideLayout" Target="../slideLayouts/slideLayout3.xml"/><Relationship Id="rId9" Type="http://schemas.openxmlformats.org/officeDocument/2006/relationships/notesSlide" Target="../notesSlides/notesSlide15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6-1.jpg"/><Relationship Id="rId2" Type="http://schemas.openxmlformats.org/officeDocument/2006/relationships/slideLayout" Target="../slideLayouts/slideLayout4.xml"/><Relationship Id="rId3" Type="http://schemas.openxmlformats.org/officeDocument/2006/relationships/notesSlide" Target="../notesSlides/notesSlide16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17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8-1.jpg"/><Relationship Id="rId2" Type="http://schemas.openxmlformats.org/officeDocument/2006/relationships/slideLayout" Target="../slideLayouts/slideLayout4.xml"/><Relationship Id="rId3" Type="http://schemas.openxmlformats.org/officeDocument/2006/relationships/notesSlide" Target="../notesSlides/notesSlide18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9-1.jpg"/><Relationship Id="rId2" Type="http://schemas.openxmlformats.org/officeDocument/2006/relationships/slideLayout" Target="../slideLayouts/slideLayout4.xml"/><Relationship Id="rId3" Type="http://schemas.openxmlformats.org/officeDocument/2006/relationships/notesSlide" Target="../notesSlides/notesSlide19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0-1.jpg"/><Relationship Id="rId2" Type="http://schemas.openxmlformats.org/officeDocument/2006/relationships/slideLayout" Target="../slideLayouts/slideLayout4.xml"/><Relationship Id="rId3" Type="http://schemas.openxmlformats.org/officeDocument/2006/relationships/notesSlide" Target="../notesSlides/notesSlide20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1-1.jpg"/><Relationship Id="rId2" Type="http://schemas.openxmlformats.org/officeDocument/2006/relationships/slideLayout" Target="../slideLayouts/slideLayout4.xml"/><Relationship Id="rId3" Type="http://schemas.openxmlformats.org/officeDocument/2006/relationships/notesSlide" Target="../notesSlides/notesSlide21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22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3-1.jpg"/><Relationship Id="rId2" Type="http://schemas.openxmlformats.org/officeDocument/2006/relationships/slideLayout" Target="../slideLayouts/slideLayout4.xml"/><Relationship Id="rId3" Type="http://schemas.openxmlformats.org/officeDocument/2006/relationships/notesSlide" Target="../notesSlides/notesSlide23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4-1.jpg"/><Relationship Id="rId2" Type="http://schemas.openxmlformats.org/officeDocument/2006/relationships/slideLayout" Target="../slideLayouts/slideLayout4.xml"/><Relationship Id="rId3" Type="http://schemas.openxmlformats.org/officeDocument/2006/relationships/notesSlide" Target="../notesSlides/notesSlide24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5-1.jpg"/><Relationship Id="rId2" Type="http://schemas.openxmlformats.org/officeDocument/2006/relationships/slideLayout" Target="../slideLayouts/slideLayout4.xml"/><Relationship Id="rId3" Type="http://schemas.openxmlformats.org/officeDocument/2006/relationships/notesSlide" Target="../notesSlides/notesSlide25.xml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6-1.jpg"/><Relationship Id="rId2" Type="http://schemas.openxmlformats.org/officeDocument/2006/relationships/slideLayout" Target="../slideLayouts/slideLayout4.xml"/><Relationship Id="rId3" Type="http://schemas.openxmlformats.org/officeDocument/2006/relationships/notesSlide" Target="../notesSlides/notesSlide26.xml"/></Relationships>
</file>

<file path=ppt/slides/_rels/slide2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7-1.png"/><Relationship Id="rId2" Type="http://schemas.openxmlformats.org/officeDocument/2006/relationships/image" Target="../media/image-27-2.png"/><Relationship Id="rId3" Type="http://schemas.openxmlformats.org/officeDocument/2006/relationships/image" Target="../media/image-27-3.png"/><Relationship Id="rId4" Type="http://schemas.openxmlformats.org/officeDocument/2006/relationships/slideLayout" Target="../slideLayouts/slideLayout3.xml"/><Relationship Id="rId5" Type="http://schemas.openxmlformats.org/officeDocument/2006/relationships/notesSlide" Target="../notesSlides/notesSlide2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731520" y="2011680"/>
            <a:ext cx="749808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algn="l" indent="0" marL="0">
              <a:buNone/>
            </a:pPr>
            <a:r>
              <a:rPr lang="en-US" sz="4400" b="1" dirty="0">
                <a:solidFill>
                  <a:schemeClr val="bg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Módulos de Gerencia y Profesional</a:t>
            </a:r>
            <a:endParaRPr lang="en-US" sz="4400" dirty="0"/>
          </a:p>
        </p:txBody>
      </p:sp>
      <p:sp>
        <p:nvSpPr>
          <p:cNvPr id="3" name="Text 0"/>
          <p:cNvSpPr/>
          <p:nvPr>
            <p:ph idx="101" type="body" hasCustomPrompt="1"/>
          </p:nvPr>
        </p:nvSpPr>
        <p:spPr>
          <a:xfrm>
            <a:off x="731520" y="3931920"/>
            <a:ext cx="749808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000" dirty="0">
                <a:solidFill>
                  <a:srgbClr val="CADCFC"/>
                </a:solidFill>
              </a:rPr>
              <a:t>LEGAL · Gestión de procesos legales con indexación desde el SGD</a:t>
            </a:r>
            <a:endParaRPr lang="en-US" sz="2000" dirty="0"/>
          </a:p>
        </p:txBody>
      </p:sp>
      <p:pic>
        <p:nvPicPr>
          <p:cNvPr id="4" name="icono-portada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144000" y="2194560"/>
            <a:ext cx="2194560" cy="2194560"/>
          </a:xfrm>
          <a:prstGeom prst="rect">
            <a:avLst/>
          </a:prstGeom>
        </p:spPr>
      </p:pic>
      <p:sp>
        <p:nvSpPr>
          <p:cNvPr id="5" name="Text 2"/>
          <p:cNvSpPr txBox="1"/>
          <p:nvPr/>
        </p:nvSpPr>
        <p:spPr>
          <a:xfrm>
            <a:off x="731520" y="5760720"/>
            <a:ext cx="7315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9FB3D1"/>
                </a:solidFill>
              </a:rPr>
              <a:t>Gerencia de Asesoría Jurídica</a:t>
            </a:r>
            <a:endParaRPr lang="en-US" sz="14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110642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200" b="1" dirty="0">
                <a:solidFill>
                  <a:schemeClr val="tx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Un solo portal, cuatro roles</a:t>
            </a:r>
            <a:endParaRPr lang="en-US" sz="3200" dirty="0"/>
          </a:p>
        </p:txBody>
      </p:sp>
      <p:sp>
        <p:nvSpPr>
          <p:cNvPr id="3" name="Text 0"/>
          <p:cNvSpPr/>
          <p:nvPr>
            <p:ph idx="101" type="body" hasCustomPrompt="1"/>
          </p:nvPr>
        </p:nvSpPr>
        <p:spPr>
          <a:xfrm>
            <a:off x="548640" y="960120"/>
            <a:ext cx="110642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600" dirty="0">
                <a:solidFill>
                  <a:schemeClr val="accent6"/>
                </a:solidFill>
              </a:rPr>
              <a:t>Esta presentación se centra en la Gerencia y el Profesional (abogado)</a:t>
            </a:r>
            <a:endParaRPr lang="en-US" sz="1600" dirty="0"/>
          </a:p>
        </p:txBody>
      </p:sp>
      <p:sp>
        <p:nvSpPr>
          <p:cNvPr id="4" name="rol-0"/>
          <p:cNvSpPr/>
          <p:nvPr/>
        </p:nvSpPr>
        <p:spPr>
          <a:xfrm>
            <a:off x="548640" y="1737360"/>
            <a:ext cx="2606040" cy="4206240"/>
          </a:xfrm>
          <a:prstGeom prst="roundRect">
            <a:avLst>
              <a:gd name="adj" fmla="val 4211"/>
            </a:avLst>
          </a:prstGeom>
          <a:solidFill>
            <a:schemeClr val="tx2"/>
          </a:solidFill>
          <a:ln/>
        </p:spPr>
      </p:sp>
      <p:sp>
        <p:nvSpPr>
          <p:cNvPr id="5" name="Shape 3"/>
          <p:cNvSpPr/>
          <p:nvPr/>
        </p:nvSpPr>
        <p:spPr>
          <a:xfrm>
            <a:off x="822960" y="2057400"/>
            <a:ext cx="822960" cy="822960"/>
          </a:xfrm>
          <a:prstGeom prst="ellipse">
            <a:avLst/>
          </a:prstGeom>
          <a:solidFill>
            <a:schemeClr val="accent2"/>
          </a:solidFill>
          <a:ln/>
        </p:spPr>
      </p:sp>
      <p:pic>
        <p:nvPicPr>
          <p:cNvPr id="6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05840" y="2240280"/>
            <a:ext cx="457200" cy="457200"/>
          </a:xfrm>
          <a:prstGeom prst="rect">
            <a:avLst/>
          </a:prstGeom>
        </p:spPr>
      </p:pic>
      <p:sp>
        <p:nvSpPr>
          <p:cNvPr id="7" name="Text 4"/>
          <p:cNvSpPr txBox="1"/>
          <p:nvPr/>
        </p:nvSpPr>
        <p:spPr>
          <a:xfrm>
            <a:off x="822960" y="3063240"/>
            <a:ext cx="21031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Gerente</a:t>
            </a:r>
            <a:endParaRPr lang="en-US" sz="1800" dirty="0"/>
          </a:p>
        </p:txBody>
      </p:sp>
      <p:sp>
        <p:nvSpPr>
          <p:cNvPr id="8" name="Text 5"/>
          <p:cNvSpPr txBox="1"/>
          <p:nvPr/>
        </p:nvSpPr>
        <p:spPr>
          <a:xfrm>
            <a:off x="822960" y="3749040"/>
            <a:ext cx="2103120" cy="2011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E1E8F4"/>
                </a:solidFill>
              </a:rPr>
              <a:t>Controla la cartera completa: KPI, salud de procesos, desempeño por abogado, aprobación de plantillas y reasignación.</a:t>
            </a:r>
            <a:endParaRPr lang="en-US" sz="1400" dirty="0"/>
          </a:p>
        </p:txBody>
      </p:sp>
      <p:sp>
        <p:nvSpPr>
          <p:cNvPr id="9" name="rol-1"/>
          <p:cNvSpPr/>
          <p:nvPr/>
        </p:nvSpPr>
        <p:spPr>
          <a:xfrm>
            <a:off x="3383280" y="1737360"/>
            <a:ext cx="2606040" cy="4206240"/>
          </a:xfrm>
          <a:prstGeom prst="roundRect">
            <a:avLst>
              <a:gd name="adj" fmla="val 4211"/>
            </a:avLst>
          </a:prstGeom>
          <a:solidFill>
            <a:schemeClr val="tx2"/>
          </a:solidFill>
          <a:ln/>
        </p:spPr>
      </p:sp>
      <p:sp>
        <p:nvSpPr>
          <p:cNvPr id="10" name="Shape 7"/>
          <p:cNvSpPr/>
          <p:nvPr/>
        </p:nvSpPr>
        <p:spPr>
          <a:xfrm>
            <a:off x="3657600" y="2057400"/>
            <a:ext cx="822960" cy="822960"/>
          </a:xfrm>
          <a:prstGeom prst="ellipse">
            <a:avLst/>
          </a:prstGeom>
          <a:solidFill>
            <a:schemeClr val="accent2"/>
          </a:solidFill>
          <a:ln/>
        </p:spPr>
      </p:sp>
      <p:pic>
        <p:nvPicPr>
          <p:cNvPr id="11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840480" y="2240280"/>
            <a:ext cx="457200" cy="457200"/>
          </a:xfrm>
          <a:prstGeom prst="rect">
            <a:avLst/>
          </a:prstGeom>
        </p:spPr>
      </p:pic>
      <p:sp>
        <p:nvSpPr>
          <p:cNvPr id="12" name="Text 8"/>
          <p:cNvSpPr txBox="1"/>
          <p:nvPr/>
        </p:nvSpPr>
        <p:spPr>
          <a:xfrm>
            <a:off x="3657600" y="3063240"/>
            <a:ext cx="21031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Profesional (abogado)</a:t>
            </a:r>
            <a:endParaRPr lang="en-US" sz="1800" dirty="0"/>
          </a:p>
        </p:txBody>
      </p:sp>
      <p:sp>
        <p:nvSpPr>
          <p:cNvPr id="13" name="Text 9"/>
          <p:cNvSpPr txBox="1"/>
          <p:nvPr/>
        </p:nvSpPr>
        <p:spPr>
          <a:xfrm>
            <a:off x="3657600" y="3749040"/>
            <a:ext cx="2103120" cy="2011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E1E8F4"/>
                </a:solidFill>
              </a:rPr>
              <a:t>Conduce sus procesos: tablero de tareas, plazos, alertas y sus plantillas de tareas por vía procedimental.</a:t>
            </a:r>
            <a:endParaRPr lang="en-US" sz="1400" dirty="0"/>
          </a:p>
        </p:txBody>
      </p:sp>
      <p:sp>
        <p:nvSpPr>
          <p:cNvPr id="14" name="rol-2"/>
          <p:cNvSpPr/>
          <p:nvPr/>
        </p:nvSpPr>
        <p:spPr>
          <a:xfrm>
            <a:off x="6217920" y="1737360"/>
            <a:ext cx="2606040" cy="4206240"/>
          </a:xfrm>
          <a:prstGeom prst="roundRect">
            <a:avLst>
              <a:gd name="adj" fmla="val 4211"/>
            </a:avLst>
          </a:prstGeom>
          <a:solidFill>
            <a:schemeClr val="bg2"/>
          </a:solidFill>
          <a:ln/>
        </p:spPr>
      </p:sp>
      <p:sp>
        <p:nvSpPr>
          <p:cNvPr id="15" name="Shape 11"/>
          <p:cNvSpPr/>
          <p:nvPr/>
        </p:nvSpPr>
        <p:spPr>
          <a:xfrm>
            <a:off x="6492240" y="2057400"/>
            <a:ext cx="822960" cy="822960"/>
          </a:xfrm>
          <a:prstGeom prst="ellipse">
            <a:avLst/>
          </a:prstGeom>
          <a:solidFill>
            <a:srgbClr val="FFFFFF"/>
          </a:solidFill>
          <a:ln/>
        </p:spPr>
      </p:sp>
      <p:pic>
        <p:nvPicPr>
          <p:cNvPr id="16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675120" y="2240280"/>
            <a:ext cx="457200" cy="457200"/>
          </a:xfrm>
          <a:prstGeom prst="rect">
            <a:avLst/>
          </a:prstGeom>
        </p:spPr>
      </p:pic>
      <p:sp>
        <p:nvSpPr>
          <p:cNvPr id="17" name="Text 12"/>
          <p:cNvSpPr txBox="1"/>
          <p:nvPr/>
        </p:nvSpPr>
        <p:spPr>
          <a:xfrm>
            <a:off x="6492240" y="3063240"/>
            <a:ext cx="21031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b="1" dirty="0">
                <a:solidFill>
                  <a:srgbClr val="14305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Asistente administrativo</a:t>
            </a:r>
            <a:endParaRPr lang="en-US" sz="1800" dirty="0"/>
          </a:p>
        </p:txBody>
      </p:sp>
      <p:sp>
        <p:nvSpPr>
          <p:cNvPr id="18" name="Text 13"/>
          <p:cNvSpPr txBox="1"/>
          <p:nvPr/>
        </p:nvSpPr>
        <p:spPr>
          <a:xfrm>
            <a:off x="6492240" y="3749040"/>
            <a:ext cx="2103120" cy="2011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1B2433"/>
                </a:solidFill>
              </a:rPr>
              <a:t>Indexa trámites del SGD con la extensión, registra procesos y solicita la definición de plazos.</a:t>
            </a:r>
            <a:endParaRPr lang="en-US" sz="1400" dirty="0"/>
          </a:p>
        </p:txBody>
      </p:sp>
      <p:sp>
        <p:nvSpPr>
          <p:cNvPr id="19" name="rol-3"/>
          <p:cNvSpPr/>
          <p:nvPr/>
        </p:nvSpPr>
        <p:spPr>
          <a:xfrm>
            <a:off x="9052560" y="1737360"/>
            <a:ext cx="2606040" cy="4206240"/>
          </a:xfrm>
          <a:prstGeom prst="roundRect">
            <a:avLst>
              <a:gd name="adj" fmla="val 4211"/>
            </a:avLst>
          </a:prstGeom>
          <a:solidFill>
            <a:schemeClr val="bg2"/>
          </a:solidFill>
          <a:ln/>
        </p:spPr>
      </p:sp>
      <p:sp>
        <p:nvSpPr>
          <p:cNvPr id="20" name="Shape 15"/>
          <p:cNvSpPr/>
          <p:nvPr/>
        </p:nvSpPr>
        <p:spPr>
          <a:xfrm>
            <a:off x="9326880" y="2057400"/>
            <a:ext cx="822960" cy="822960"/>
          </a:xfrm>
          <a:prstGeom prst="ellipse">
            <a:avLst/>
          </a:prstGeom>
          <a:solidFill>
            <a:srgbClr val="FFFFFF"/>
          </a:solidFill>
          <a:ln/>
        </p:spPr>
      </p:sp>
      <p:pic>
        <p:nvPicPr>
          <p:cNvPr id="21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509760" y="2240280"/>
            <a:ext cx="457200" cy="457200"/>
          </a:xfrm>
          <a:prstGeom prst="rect">
            <a:avLst/>
          </a:prstGeom>
        </p:spPr>
      </p:pic>
      <p:sp>
        <p:nvSpPr>
          <p:cNvPr id="22" name="Text 16"/>
          <p:cNvSpPr txBox="1"/>
          <p:nvPr/>
        </p:nvSpPr>
        <p:spPr>
          <a:xfrm>
            <a:off x="9326880" y="3063240"/>
            <a:ext cx="21031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b="1" dirty="0">
                <a:solidFill>
                  <a:srgbClr val="14305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Administrador</a:t>
            </a:r>
            <a:endParaRPr lang="en-US" sz="1800" dirty="0"/>
          </a:p>
        </p:txBody>
      </p:sp>
      <p:sp>
        <p:nvSpPr>
          <p:cNvPr id="23" name="Text 17"/>
          <p:cNvSpPr txBox="1"/>
          <p:nvPr/>
        </p:nvSpPr>
        <p:spPr>
          <a:xfrm>
            <a:off x="9326880" y="3749040"/>
            <a:ext cx="2103120" cy="2011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1B2433"/>
                </a:solidFill>
              </a:rPr>
              <a:t>Usuarios, taxonomía normativa, feriados, umbrales de alertas y base de datos.</a:t>
            </a:r>
            <a:endParaRPr lang="en-US" sz="1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55680" y="640080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8A97AB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2</a:t>
            </a:fld>
            <a:endParaRPr lang="en-US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110642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200" b="1" dirty="0">
                <a:solidFill>
                  <a:schemeClr val="tx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Cómo trabajan juntos Gerencia y Profesional</a:t>
            </a:r>
            <a:endParaRPr lang="en-US" sz="3200" dirty="0"/>
          </a:p>
        </p:txBody>
      </p:sp>
      <p:sp>
        <p:nvSpPr>
          <p:cNvPr id="3" name="Text 0"/>
          <p:cNvSpPr/>
          <p:nvPr>
            <p:ph idx="101" type="body" hasCustomPrompt="1"/>
          </p:nvPr>
        </p:nvSpPr>
        <p:spPr>
          <a:xfrm>
            <a:off x="548640" y="960120"/>
            <a:ext cx="110642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600" dirty="0">
                <a:solidFill>
                  <a:schemeClr val="accent6"/>
                </a:solidFill>
              </a:rPr>
              <a:t>Del trámite en el SGD al proceso cerrado, con plazos controlados</a:t>
            </a:r>
            <a:endParaRPr lang="en-US" sz="1600" dirty="0"/>
          </a:p>
        </p:txBody>
      </p:sp>
      <p:sp>
        <p:nvSpPr>
          <p:cNvPr id="4" name="paso-0"/>
          <p:cNvSpPr/>
          <p:nvPr/>
        </p:nvSpPr>
        <p:spPr>
          <a:xfrm>
            <a:off x="1051560" y="1828800"/>
            <a:ext cx="1097280" cy="1097280"/>
          </a:xfrm>
          <a:prstGeom prst="ellipse">
            <a:avLst/>
          </a:prstGeom>
          <a:solidFill>
            <a:schemeClr val="accent2"/>
          </a:solidFill>
          <a:ln/>
        </p:spPr>
      </p:sp>
      <p:pic>
        <p:nvPicPr>
          <p:cNvPr id="5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325880" y="2103120"/>
            <a:ext cx="548640" cy="548640"/>
          </a:xfrm>
          <a:prstGeom prst="rect">
            <a:avLst/>
          </a:prstGeom>
        </p:spPr>
      </p:pic>
      <p:sp>
        <p:nvSpPr>
          <p:cNvPr id="6" name="Shape 3"/>
          <p:cNvSpPr/>
          <p:nvPr/>
        </p:nvSpPr>
        <p:spPr>
          <a:xfrm>
            <a:off x="2331720" y="2240280"/>
            <a:ext cx="411480" cy="274320"/>
          </a:xfrm>
          <a:prstGeom prst="rightArrow">
            <a:avLst/>
          </a:prstGeom>
          <a:solidFill>
            <a:srgbClr val="B8C2D3"/>
          </a:solidFill>
          <a:ln/>
        </p:spPr>
      </p:sp>
      <p:sp>
        <p:nvSpPr>
          <p:cNvPr id="7" name="Text 4"/>
          <p:cNvSpPr txBox="1"/>
          <p:nvPr/>
        </p:nvSpPr>
        <p:spPr>
          <a:xfrm>
            <a:off x="548640" y="3108960"/>
            <a:ext cx="21031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14305A"/>
                </a:solidFill>
              </a:rPr>
              <a:t>1. Profesional</a:t>
            </a:r>
            <a:endParaRPr lang="en-US" sz="1600" dirty="0"/>
          </a:p>
        </p:txBody>
      </p:sp>
      <p:sp>
        <p:nvSpPr>
          <p:cNvPr id="8" name="Text 5"/>
          <p:cNvSpPr txBox="1"/>
          <p:nvPr/>
        </p:nvSpPr>
        <p:spPr>
          <a:xfrm>
            <a:off x="548640" y="3474720"/>
            <a:ext cx="210312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400" dirty="0">
                <a:solidFill>
                  <a:srgbClr val="1B2433"/>
                </a:solidFill>
              </a:rPr>
              <a:t>Crea su plantilla de tareas por vía</a:t>
            </a:r>
            <a:endParaRPr lang="en-US" sz="1400" dirty="0"/>
          </a:p>
        </p:txBody>
      </p:sp>
      <p:sp>
        <p:nvSpPr>
          <p:cNvPr id="9" name="paso-1"/>
          <p:cNvSpPr/>
          <p:nvPr/>
        </p:nvSpPr>
        <p:spPr>
          <a:xfrm>
            <a:off x="3319272" y="1828800"/>
            <a:ext cx="1097280" cy="1097280"/>
          </a:xfrm>
          <a:prstGeom prst="ellipse">
            <a:avLst/>
          </a:prstGeom>
          <a:solidFill>
            <a:schemeClr val="tx2"/>
          </a:solidFill>
          <a:ln/>
        </p:spPr>
      </p:sp>
      <p:pic>
        <p:nvPicPr>
          <p:cNvPr id="10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593592" y="2103120"/>
            <a:ext cx="548640" cy="548640"/>
          </a:xfrm>
          <a:prstGeom prst="rect">
            <a:avLst/>
          </a:prstGeom>
        </p:spPr>
      </p:pic>
      <p:sp>
        <p:nvSpPr>
          <p:cNvPr id="11" name="Shape 7"/>
          <p:cNvSpPr/>
          <p:nvPr/>
        </p:nvSpPr>
        <p:spPr>
          <a:xfrm>
            <a:off x="4599432" y="2240280"/>
            <a:ext cx="411480" cy="274320"/>
          </a:xfrm>
          <a:prstGeom prst="rightArrow">
            <a:avLst/>
          </a:prstGeom>
          <a:solidFill>
            <a:srgbClr val="B8C2D3"/>
          </a:solidFill>
          <a:ln/>
        </p:spPr>
      </p:sp>
      <p:sp>
        <p:nvSpPr>
          <p:cNvPr id="12" name="Text 8"/>
          <p:cNvSpPr txBox="1"/>
          <p:nvPr/>
        </p:nvSpPr>
        <p:spPr>
          <a:xfrm>
            <a:off x="2816352" y="3108960"/>
            <a:ext cx="21031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14305A"/>
                </a:solidFill>
              </a:rPr>
              <a:t>2. Gerencia</a:t>
            </a:r>
            <a:endParaRPr lang="en-US" sz="1600" dirty="0"/>
          </a:p>
        </p:txBody>
      </p:sp>
      <p:sp>
        <p:nvSpPr>
          <p:cNvPr id="13" name="Text 9"/>
          <p:cNvSpPr txBox="1"/>
          <p:nvPr/>
        </p:nvSpPr>
        <p:spPr>
          <a:xfrm>
            <a:off x="2816352" y="3474720"/>
            <a:ext cx="210312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400" dirty="0">
                <a:solidFill>
                  <a:srgbClr val="1B2433"/>
                </a:solidFill>
              </a:rPr>
              <a:t>Aprueba u observa la plantilla</a:t>
            </a:r>
            <a:endParaRPr lang="en-US" sz="1400" dirty="0"/>
          </a:p>
        </p:txBody>
      </p:sp>
      <p:sp>
        <p:nvSpPr>
          <p:cNvPr id="14" name="paso-2"/>
          <p:cNvSpPr/>
          <p:nvPr/>
        </p:nvSpPr>
        <p:spPr>
          <a:xfrm>
            <a:off x="5586984" y="1828800"/>
            <a:ext cx="1097280" cy="1097280"/>
          </a:xfrm>
          <a:prstGeom prst="ellipse">
            <a:avLst/>
          </a:prstGeom>
          <a:solidFill>
            <a:schemeClr val="bg2"/>
          </a:solidFill>
          <a:ln/>
        </p:spPr>
      </p:sp>
      <p:pic>
        <p:nvPicPr>
          <p:cNvPr id="15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861304" y="2103120"/>
            <a:ext cx="548640" cy="548640"/>
          </a:xfrm>
          <a:prstGeom prst="rect">
            <a:avLst/>
          </a:prstGeom>
        </p:spPr>
      </p:pic>
      <p:sp>
        <p:nvSpPr>
          <p:cNvPr id="16" name="Shape 11"/>
          <p:cNvSpPr/>
          <p:nvPr/>
        </p:nvSpPr>
        <p:spPr>
          <a:xfrm>
            <a:off x="6867144" y="2240280"/>
            <a:ext cx="411480" cy="274320"/>
          </a:xfrm>
          <a:prstGeom prst="rightArrow">
            <a:avLst/>
          </a:prstGeom>
          <a:solidFill>
            <a:srgbClr val="B8C2D3"/>
          </a:solidFill>
          <a:ln/>
        </p:spPr>
      </p:sp>
      <p:sp>
        <p:nvSpPr>
          <p:cNvPr id="17" name="Text 12"/>
          <p:cNvSpPr txBox="1"/>
          <p:nvPr/>
        </p:nvSpPr>
        <p:spPr>
          <a:xfrm>
            <a:off x="5084064" y="3108960"/>
            <a:ext cx="21031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14305A"/>
                </a:solidFill>
              </a:rPr>
              <a:t>3. Asistente</a:t>
            </a:r>
            <a:endParaRPr lang="en-US" sz="1600" dirty="0"/>
          </a:p>
        </p:txBody>
      </p:sp>
      <p:sp>
        <p:nvSpPr>
          <p:cNvPr id="18" name="Text 13"/>
          <p:cNvSpPr txBox="1"/>
          <p:nvPr/>
        </p:nvSpPr>
        <p:spPr>
          <a:xfrm>
            <a:off x="5084064" y="3474720"/>
            <a:ext cx="210312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400" dirty="0">
                <a:solidFill>
                  <a:srgbClr val="1B2433"/>
                </a:solidFill>
              </a:rPr>
              <a:t>Indexa el trámite del SGD y crea el proceso</a:t>
            </a:r>
            <a:endParaRPr lang="en-US" sz="1400" dirty="0"/>
          </a:p>
        </p:txBody>
      </p:sp>
      <p:sp>
        <p:nvSpPr>
          <p:cNvPr id="19" name="paso-3"/>
          <p:cNvSpPr/>
          <p:nvPr/>
        </p:nvSpPr>
        <p:spPr>
          <a:xfrm>
            <a:off x="7854696" y="1828800"/>
            <a:ext cx="1097280" cy="1097280"/>
          </a:xfrm>
          <a:prstGeom prst="ellipse">
            <a:avLst/>
          </a:prstGeom>
          <a:solidFill>
            <a:schemeClr val="accent2"/>
          </a:solidFill>
          <a:ln/>
        </p:spPr>
      </p:sp>
      <p:pic>
        <p:nvPicPr>
          <p:cNvPr id="20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129016" y="2103120"/>
            <a:ext cx="548640" cy="548640"/>
          </a:xfrm>
          <a:prstGeom prst="rect">
            <a:avLst/>
          </a:prstGeom>
        </p:spPr>
      </p:pic>
      <p:sp>
        <p:nvSpPr>
          <p:cNvPr id="21" name="Shape 15"/>
          <p:cNvSpPr/>
          <p:nvPr/>
        </p:nvSpPr>
        <p:spPr>
          <a:xfrm>
            <a:off x="9134856" y="2240280"/>
            <a:ext cx="411480" cy="274320"/>
          </a:xfrm>
          <a:prstGeom prst="rightArrow">
            <a:avLst/>
          </a:prstGeom>
          <a:solidFill>
            <a:srgbClr val="B8C2D3"/>
          </a:solidFill>
          <a:ln/>
        </p:spPr>
      </p:sp>
      <p:sp>
        <p:nvSpPr>
          <p:cNvPr id="22" name="Text 16"/>
          <p:cNvSpPr txBox="1"/>
          <p:nvPr/>
        </p:nvSpPr>
        <p:spPr>
          <a:xfrm>
            <a:off x="7351776" y="3108960"/>
            <a:ext cx="21031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14305A"/>
                </a:solidFill>
              </a:rPr>
              <a:t>4. Profesional</a:t>
            </a:r>
            <a:endParaRPr lang="en-US" sz="1600" dirty="0"/>
          </a:p>
        </p:txBody>
      </p:sp>
      <p:sp>
        <p:nvSpPr>
          <p:cNvPr id="23" name="Text 17"/>
          <p:cNvSpPr txBox="1"/>
          <p:nvPr/>
        </p:nvSpPr>
        <p:spPr>
          <a:xfrm>
            <a:off x="7351776" y="3474720"/>
            <a:ext cx="210312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400" dirty="0">
                <a:solidFill>
                  <a:srgbClr val="1B2433"/>
                </a:solidFill>
              </a:rPr>
              <a:t>Avanza tareas y define plazos</a:t>
            </a:r>
            <a:endParaRPr lang="en-US" sz="1400" dirty="0"/>
          </a:p>
        </p:txBody>
      </p:sp>
      <p:sp>
        <p:nvSpPr>
          <p:cNvPr id="24" name="paso-4"/>
          <p:cNvSpPr/>
          <p:nvPr/>
        </p:nvSpPr>
        <p:spPr>
          <a:xfrm>
            <a:off x="10122408" y="1828800"/>
            <a:ext cx="1097280" cy="1097280"/>
          </a:xfrm>
          <a:prstGeom prst="ellipse">
            <a:avLst/>
          </a:prstGeom>
          <a:solidFill>
            <a:schemeClr val="tx2"/>
          </a:solidFill>
          <a:ln/>
        </p:spPr>
      </p:sp>
      <p:pic>
        <p:nvPicPr>
          <p:cNvPr id="25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0396728" y="2103120"/>
            <a:ext cx="548640" cy="548640"/>
          </a:xfrm>
          <a:prstGeom prst="rect">
            <a:avLst/>
          </a:prstGeom>
        </p:spPr>
      </p:pic>
      <p:sp>
        <p:nvSpPr>
          <p:cNvPr id="26" name="Text 19"/>
          <p:cNvSpPr txBox="1"/>
          <p:nvPr/>
        </p:nvSpPr>
        <p:spPr>
          <a:xfrm>
            <a:off x="9619488" y="3108960"/>
            <a:ext cx="21031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14305A"/>
                </a:solidFill>
              </a:rPr>
              <a:t>5. Gerencia</a:t>
            </a:r>
            <a:endParaRPr lang="en-US" sz="1600" dirty="0"/>
          </a:p>
        </p:txBody>
      </p:sp>
      <p:sp>
        <p:nvSpPr>
          <p:cNvPr id="27" name="Text 20"/>
          <p:cNvSpPr txBox="1"/>
          <p:nvPr/>
        </p:nvSpPr>
        <p:spPr>
          <a:xfrm>
            <a:off x="9619488" y="3474720"/>
            <a:ext cx="210312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400" dirty="0">
                <a:solidFill>
                  <a:srgbClr val="1B2433"/>
                </a:solidFill>
              </a:rPr>
              <a:t>Monitorea KPI, alertas y reasigna</a:t>
            </a:r>
            <a:endParaRPr lang="en-US" sz="1400" dirty="0"/>
          </a:p>
        </p:txBody>
      </p:sp>
      <p:sp>
        <p:nvSpPr>
          <p:cNvPr id="28" name="nota-flujo"/>
          <p:cNvSpPr/>
          <p:nvPr/>
        </p:nvSpPr>
        <p:spPr>
          <a:xfrm>
            <a:off x="548640" y="4800600"/>
            <a:ext cx="11064240" cy="1143000"/>
          </a:xfrm>
          <a:prstGeom prst="roundRect">
            <a:avLst>
              <a:gd name="adj" fmla="val 8000"/>
            </a:avLst>
          </a:prstGeom>
          <a:solidFill>
            <a:schemeClr val="bg2"/>
          </a:solidFill>
          <a:ln/>
        </p:spPr>
      </p:sp>
      <p:sp>
        <p:nvSpPr>
          <p:cNvPr id="29" name="Text 22"/>
          <p:cNvSpPr txBox="1"/>
          <p:nvPr/>
        </p:nvSpPr>
        <p:spPr>
          <a:xfrm>
            <a:off x="822960" y="4892040"/>
            <a:ext cx="1051560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4305A"/>
                </a:solidFill>
              </a:rPr>
              <a:t>Regla clave: </a:t>
            </a:r>
            <a:pPr indent="0" marL="0">
              <a:buNone/>
            </a:pPr>
            <a:r>
              <a:rPr lang="en-US" sz="1500" dirty="0">
                <a:solidFill>
                  <a:srgbClr val="1B2433"/>
                </a:solidFill>
              </a:rPr>
              <a:t>solo las vías con plantilla aprobada por la Gerencia se ofrecen para crear procesos (portal y extensión). Cada proceso recibe su código PL-AAAA-NNNN y genera su ciclo de tareas con la última versión aprobada.</a:t>
            </a:r>
            <a:endParaRPr lang="en-US" sz="15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55680" y="640080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8A97AB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3</a:t>
            </a:fld>
            <a:endParaRPr lang="en-US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731520" y="1463040"/>
            <a:ext cx="585216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algn="l" indent="0" marL="0">
              <a:buNone/>
            </a:pPr>
            <a:r>
              <a:rPr lang="en-US" sz="4400" b="1" dirty="0">
                <a:solidFill>
                  <a:schemeClr val="bg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Gerencia</a:t>
            </a:r>
            <a:endParaRPr lang="en-US" sz="4400" dirty="0"/>
          </a:p>
        </p:txBody>
      </p:sp>
      <p:sp>
        <p:nvSpPr>
          <p:cNvPr id="3" name="Text 0"/>
          <p:cNvSpPr/>
          <p:nvPr>
            <p:ph idx="101" type="body" hasCustomPrompt="1"/>
          </p:nvPr>
        </p:nvSpPr>
        <p:spPr>
          <a:xfrm>
            <a:off x="731520" y="2788920"/>
            <a:ext cx="548640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800" dirty="0">
                <a:solidFill>
                  <a:srgbClr val="CADCFC"/>
                </a:solidFill>
              </a:rPr>
              <a:t>Tablero de control institucional y gobierno de la cartera legal</a:t>
            </a:r>
            <a:endParaRPr lang="en-US" sz="1800" dirty="0"/>
          </a:p>
        </p:txBody>
      </p:sp>
      <p:sp>
        <p:nvSpPr>
          <p:cNvPr id="4" name="modulo-g-0"/>
          <p:cNvSpPr/>
          <p:nvPr/>
        </p:nvSpPr>
        <p:spPr>
          <a:xfrm>
            <a:off x="7406640" y="1371600"/>
            <a:ext cx="4206240" cy="685800"/>
          </a:xfrm>
          <a:prstGeom prst="roundRect">
            <a:avLst>
              <a:gd name="adj" fmla="val 13333"/>
            </a:avLst>
          </a:prstGeom>
          <a:solidFill>
            <a:srgbClr val="1F4275"/>
          </a:solidFill>
          <a:ln/>
        </p:spPr>
      </p:sp>
      <p:pic>
        <p:nvPicPr>
          <p:cNvPr id="5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635240" y="1536192"/>
            <a:ext cx="365760" cy="365760"/>
          </a:xfrm>
          <a:prstGeom prst="rect">
            <a:avLst/>
          </a:prstGeom>
        </p:spPr>
      </p:pic>
      <p:sp>
        <p:nvSpPr>
          <p:cNvPr id="6" name="Text 3"/>
          <p:cNvSpPr txBox="1"/>
          <p:nvPr/>
        </p:nvSpPr>
        <p:spPr>
          <a:xfrm>
            <a:off x="8229600" y="1371600"/>
            <a:ext cx="32918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dirty="0">
                <a:solidFill>
                  <a:srgbClr val="FFFFFF"/>
                </a:solidFill>
              </a:rPr>
              <a:t>Panel institucional</a:t>
            </a:r>
            <a:endParaRPr lang="en-US" sz="1700" dirty="0"/>
          </a:p>
        </p:txBody>
      </p:sp>
      <p:sp>
        <p:nvSpPr>
          <p:cNvPr id="7" name="modulo-g-1"/>
          <p:cNvSpPr/>
          <p:nvPr/>
        </p:nvSpPr>
        <p:spPr>
          <a:xfrm>
            <a:off x="7406640" y="2240280"/>
            <a:ext cx="4206240" cy="685800"/>
          </a:xfrm>
          <a:prstGeom prst="roundRect">
            <a:avLst>
              <a:gd name="adj" fmla="val 13333"/>
            </a:avLst>
          </a:prstGeom>
          <a:solidFill>
            <a:srgbClr val="1F4275"/>
          </a:solidFill>
          <a:ln/>
        </p:spPr>
      </p:sp>
      <p:pic>
        <p:nvPicPr>
          <p:cNvPr id="8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635240" y="2404872"/>
            <a:ext cx="365760" cy="365760"/>
          </a:xfrm>
          <a:prstGeom prst="rect">
            <a:avLst/>
          </a:prstGeom>
        </p:spPr>
      </p:pic>
      <p:sp>
        <p:nvSpPr>
          <p:cNvPr id="9" name="Text 5"/>
          <p:cNvSpPr txBox="1"/>
          <p:nvPr/>
        </p:nvSpPr>
        <p:spPr>
          <a:xfrm>
            <a:off x="8229600" y="2240280"/>
            <a:ext cx="32918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dirty="0">
                <a:solidFill>
                  <a:srgbClr val="FFFFFF"/>
                </a:solidFill>
              </a:rPr>
              <a:t>Cartera de procesos</a:t>
            </a:r>
            <a:endParaRPr lang="en-US" sz="1700" dirty="0"/>
          </a:p>
        </p:txBody>
      </p:sp>
      <p:sp>
        <p:nvSpPr>
          <p:cNvPr id="10" name="modulo-g-2"/>
          <p:cNvSpPr/>
          <p:nvPr/>
        </p:nvSpPr>
        <p:spPr>
          <a:xfrm>
            <a:off x="7406640" y="3108960"/>
            <a:ext cx="4206240" cy="685800"/>
          </a:xfrm>
          <a:prstGeom prst="roundRect">
            <a:avLst>
              <a:gd name="adj" fmla="val 13333"/>
            </a:avLst>
          </a:prstGeom>
          <a:solidFill>
            <a:srgbClr val="1F4275"/>
          </a:solidFill>
          <a:ln/>
        </p:spPr>
      </p:sp>
      <p:pic>
        <p:nvPicPr>
          <p:cNvPr id="11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635240" y="3273552"/>
            <a:ext cx="365760" cy="365760"/>
          </a:xfrm>
          <a:prstGeom prst="rect">
            <a:avLst/>
          </a:prstGeom>
        </p:spPr>
      </p:pic>
      <p:sp>
        <p:nvSpPr>
          <p:cNvPr id="12" name="Text 7"/>
          <p:cNvSpPr txBox="1"/>
          <p:nvPr/>
        </p:nvSpPr>
        <p:spPr>
          <a:xfrm>
            <a:off x="8229600" y="3108960"/>
            <a:ext cx="32918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dirty="0">
                <a:solidFill>
                  <a:srgbClr val="FFFFFF"/>
                </a:solidFill>
              </a:rPr>
              <a:t>Alertas</a:t>
            </a:r>
            <a:endParaRPr lang="en-US" sz="1700" dirty="0"/>
          </a:p>
        </p:txBody>
      </p:sp>
      <p:sp>
        <p:nvSpPr>
          <p:cNvPr id="13" name="modulo-g-3"/>
          <p:cNvSpPr/>
          <p:nvPr/>
        </p:nvSpPr>
        <p:spPr>
          <a:xfrm>
            <a:off x="7406640" y="3977640"/>
            <a:ext cx="4206240" cy="685800"/>
          </a:xfrm>
          <a:prstGeom prst="roundRect">
            <a:avLst>
              <a:gd name="adj" fmla="val 13333"/>
            </a:avLst>
          </a:prstGeom>
          <a:solidFill>
            <a:srgbClr val="1F4275"/>
          </a:solidFill>
          <a:ln/>
        </p:spPr>
      </p:sp>
      <p:pic>
        <p:nvPicPr>
          <p:cNvPr id="14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635240" y="4142232"/>
            <a:ext cx="365760" cy="365760"/>
          </a:xfrm>
          <a:prstGeom prst="rect">
            <a:avLst/>
          </a:prstGeom>
        </p:spPr>
      </p:pic>
      <p:sp>
        <p:nvSpPr>
          <p:cNvPr id="15" name="Text 9"/>
          <p:cNvSpPr txBox="1"/>
          <p:nvPr/>
        </p:nvSpPr>
        <p:spPr>
          <a:xfrm>
            <a:off x="8229600" y="3977640"/>
            <a:ext cx="32918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dirty="0">
                <a:solidFill>
                  <a:srgbClr val="FFFFFF"/>
                </a:solidFill>
              </a:rPr>
              <a:t>Plantillas por aprobar</a:t>
            </a:r>
            <a:endParaRPr lang="en-US" sz="1700" dirty="0"/>
          </a:p>
        </p:txBody>
      </p:sp>
      <p:sp>
        <p:nvSpPr>
          <p:cNvPr id="16" name="modulo-g-4"/>
          <p:cNvSpPr/>
          <p:nvPr/>
        </p:nvSpPr>
        <p:spPr>
          <a:xfrm>
            <a:off x="7406640" y="4846320"/>
            <a:ext cx="4206240" cy="685800"/>
          </a:xfrm>
          <a:prstGeom prst="roundRect">
            <a:avLst>
              <a:gd name="adj" fmla="val 13333"/>
            </a:avLst>
          </a:prstGeom>
          <a:solidFill>
            <a:srgbClr val="1F4275"/>
          </a:solidFill>
          <a:ln/>
        </p:spPr>
      </p:sp>
      <p:pic>
        <p:nvPicPr>
          <p:cNvPr id="17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635240" y="5010912"/>
            <a:ext cx="365760" cy="365760"/>
          </a:xfrm>
          <a:prstGeom prst="rect">
            <a:avLst/>
          </a:prstGeom>
        </p:spPr>
      </p:pic>
      <p:sp>
        <p:nvSpPr>
          <p:cNvPr id="18" name="Text 11"/>
          <p:cNvSpPr txBox="1"/>
          <p:nvPr/>
        </p:nvSpPr>
        <p:spPr>
          <a:xfrm>
            <a:off x="8229600" y="4846320"/>
            <a:ext cx="32918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dirty="0">
                <a:solidFill>
                  <a:srgbClr val="FFFFFF"/>
                </a:solidFill>
              </a:rPr>
              <a:t>Trámites SGD</a:t>
            </a:r>
            <a:endParaRPr lang="en-US" sz="1700" dirty="0"/>
          </a:p>
        </p:txBody>
      </p:sp>
      <p:sp>
        <p:nvSpPr>
          <p:cNvPr id="19" name="Text 12"/>
          <p:cNvSpPr txBox="1"/>
          <p:nvPr/>
        </p:nvSpPr>
        <p:spPr>
          <a:xfrm>
            <a:off x="731520" y="4114800"/>
            <a:ext cx="4572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chemeClr val="accent2"/>
                </a:solidFill>
              </a:rPr>
              <a:t>5 módulos en el menú</a:t>
            </a:r>
            <a:endParaRPr lang="en-US" sz="1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55680" y="640080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9FB3D1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4</a:t>
            </a:fld>
            <a:endParaRPr lang="en-US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110642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200" b="1" dirty="0">
                <a:solidFill>
                  <a:schemeClr val="tx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Panel institucional</a:t>
            </a:r>
            <a:endParaRPr lang="en-US" sz="3200" dirty="0"/>
          </a:p>
        </p:txBody>
      </p:sp>
      <p:sp>
        <p:nvSpPr>
          <p:cNvPr id="3" name="Text 0"/>
          <p:cNvSpPr/>
          <p:nvPr>
            <p:ph idx="101" type="body" hasCustomPrompt="1"/>
          </p:nvPr>
        </p:nvSpPr>
        <p:spPr>
          <a:xfrm>
            <a:off x="548640" y="960120"/>
            <a:ext cx="110642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600" dirty="0">
                <a:solidFill>
                  <a:schemeClr val="accent6"/>
                </a:solidFill>
              </a:rPr>
              <a:t>Lectura ejecutiva de toda la cartera, con corte a la fecha</a:t>
            </a:r>
            <a:endParaRPr lang="en-US" sz="1600" dirty="0"/>
          </a:p>
        </p:txBody>
      </p:sp>
      <p:sp>
        <p:nvSpPr>
          <p:cNvPr id="4" name="marco-g-panel"/>
          <p:cNvSpPr/>
          <p:nvPr/>
        </p:nvSpPr>
        <p:spPr>
          <a:xfrm>
            <a:off x="548640" y="1554480"/>
            <a:ext cx="7589520" cy="4532630"/>
          </a:xfrm>
          <a:prstGeom prst="rect">
            <a:avLst/>
          </a:prstGeom>
          <a:solidFill>
            <a:srgbClr val="FFFFFF"/>
          </a:solidFill>
          <a:ln w="9525">
            <a:solidFill>
              <a:srgbClr val="D5DBE5"/>
            </a:solidFill>
            <a:prstDash val="solid"/>
          </a:ln>
          <a:effectLst>
            <a:outerShdw sx="100000" sy="100000" kx="0" ky="0" algn="bl" rotWithShape="0" blurRad="101600" dist="25400" dir="5400000">
              <a:srgbClr val="000000">
                <a:alpha val="18000"/>
              </a:srgbClr>
            </a:outerShdw>
          </a:effectLst>
        </p:spPr>
      </p:sp>
      <p:pic>
        <p:nvPicPr>
          <p:cNvPr id="5" name="captura-g-panel" descr="Captura de pantalla: g-panel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48640" y="1554480"/>
            <a:ext cx="7589520" cy="4532630"/>
          </a:xfrm>
          <a:prstGeom prst="rect">
            <a:avLst/>
          </a:prstGeom>
        </p:spPr>
      </p:pic>
      <p:sp>
        <p:nvSpPr>
          <p:cNvPr id="6" name="num-0"/>
          <p:cNvSpPr/>
          <p:nvPr/>
        </p:nvSpPr>
        <p:spPr>
          <a:xfrm>
            <a:off x="8503920" y="1618488"/>
            <a:ext cx="384048" cy="384048"/>
          </a:xfrm>
          <a:prstGeom prst="ellipse">
            <a:avLst/>
          </a:prstGeom>
          <a:solidFill>
            <a:schemeClr val="accent2"/>
          </a:solidFill>
          <a:ln/>
        </p:spPr>
      </p:sp>
      <p:sp>
        <p:nvSpPr>
          <p:cNvPr id="7" name="Text 4"/>
          <p:cNvSpPr txBox="1"/>
          <p:nvPr/>
        </p:nvSpPr>
        <p:spPr>
          <a:xfrm>
            <a:off x="8503920" y="1618488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chemeClr val="tx2"/>
                </a:solidFill>
              </a:rPr>
              <a:t>1</a:t>
            </a:r>
            <a:endParaRPr lang="en-US" sz="1400" dirty="0"/>
          </a:p>
        </p:txBody>
      </p:sp>
      <p:sp>
        <p:nvSpPr>
          <p:cNvPr id="8" name="Text 5"/>
          <p:cNvSpPr txBox="1"/>
          <p:nvPr/>
        </p:nvSpPr>
        <p:spPr>
          <a:xfrm>
            <a:off x="9034272" y="1581912"/>
            <a:ext cx="2624328" cy="104698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300"/>
              </a:spcAft>
              <a:buNone/>
            </a:pPr>
            <a:r>
              <a:rPr lang="en-US" sz="1500" b="1" dirty="0">
                <a:solidFill>
                  <a:schemeClr val="tx2"/>
                </a:solidFill>
              </a:rPr>
              <a:t>Semáforo de salud</a:t>
            </a:r>
            <a:endParaRPr lang="en-US" sz="1500" dirty="0"/>
          </a:p>
          <a:p>
            <a:pPr indent="0" marL="0">
              <a:spcAft>
                <a:spcPts val="300"/>
              </a:spcAft>
              <a:buNone/>
            </a:pPr>
            <a:r>
              <a:rPr lang="en-US" sz="1400" dirty="0">
                <a:solidFill>
                  <a:schemeClr val="tx1"/>
                </a:solidFill>
              </a:rPr>
              <a:t>Barra apilada: procesos en riesgo, en atención y en plazo.</a:t>
            </a:r>
            <a:endParaRPr lang="en-US" sz="1500" dirty="0"/>
          </a:p>
        </p:txBody>
      </p:sp>
      <p:sp>
        <p:nvSpPr>
          <p:cNvPr id="9" name="num-1"/>
          <p:cNvSpPr/>
          <p:nvPr/>
        </p:nvSpPr>
        <p:spPr>
          <a:xfrm>
            <a:off x="8503920" y="2738628"/>
            <a:ext cx="384048" cy="384048"/>
          </a:xfrm>
          <a:prstGeom prst="ellipse">
            <a:avLst/>
          </a:prstGeom>
          <a:solidFill>
            <a:schemeClr val="accent2"/>
          </a:solidFill>
          <a:ln/>
        </p:spPr>
      </p:sp>
      <p:sp>
        <p:nvSpPr>
          <p:cNvPr id="10" name="Text 7"/>
          <p:cNvSpPr txBox="1"/>
          <p:nvPr/>
        </p:nvSpPr>
        <p:spPr>
          <a:xfrm>
            <a:off x="8503920" y="2738628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chemeClr val="tx2"/>
                </a:solidFill>
              </a:rPr>
              <a:t>2</a:t>
            </a:r>
            <a:endParaRPr lang="en-US" sz="1400" dirty="0"/>
          </a:p>
        </p:txBody>
      </p:sp>
      <p:sp>
        <p:nvSpPr>
          <p:cNvPr id="11" name="Text 8"/>
          <p:cNvSpPr txBox="1"/>
          <p:nvPr/>
        </p:nvSpPr>
        <p:spPr>
          <a:xfrm>
            <a:off x="9034272" y="2702052"/>
            <a:ext cx="2624328" cy="104698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300"/>
              </a:spcAft>
              <a:buNone/>
            </a:pPr>
            <a:r>
              <a:rPr lang="en-US" sz="1500" b="1" dirty="0">
                <a:solidFill>
                  <a:schemeClr val="tx2"/>
                </a:solidFill>
              </a:rPr>
              <a:t>KPI en tres grupos</a:t>
            </a:r>
            <a:endParaRPr lang="en-US" sz="1500" dirty="0"/>
          </a:p>
          <a:p>
            <a:pPr indent="0" marL="0">
              <a:spcAft>
                <a:spcPts val="300"/>
              </a:spcAft>
              <a:buNone/>
            </a:pPr>
            <a:r>
              <a:rPr lang="en-US" sz="1400" dirty="0">
                <a:solidFill>
                  <a:schemeClr val="tx1"/>
                </a:solidFill>
              </a:rPr>
              <a:t>Cartera · Cronograma y plazos · Gestión documental.</a:t>
            </a:r>
            <a:endParaRPr lang="en-US" sz="1500" dirty="0"/>
          </a:p>
        </p:txBody>
      </p:sp>
      <p:sp>
        <p:nvSpPr>
          <p:cNvPr id="12" name="num-2"/>
          <p:cNvSpPr/>
          <p:nvPr/>
        </p:nvSpPr>
        <p:spPr>
          <a:xfrm>
            <a:off x="8503920" y="3858768"/>
            <a:ext cx="384048" cy="384048"/>
          </a:xfrm>
          <a:prstGeom prst="ellipse">
            <a:avLst/>
          </a:prstGeom>
          <a:solidFill>
            <a:schemeClr val="accent2"/>
          </a:solidFill>
          <a:ln/>
        </p:spPr>
      </p:sp>
      <p:sp>
        <p:nvSpPr>
          <p:cNvPr id="13" name="Text 10"/>
          <p:cNvSpPr txBox="1"/>
          <p:nvPr/>
        </p:nvSpPr>
        <p:spPr>
          <a:xfrm>
            <a:off x="8503920" y="3858768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chemeClr val="tx2"/>
                </a:solidFill>
              </a:rPr>
              <a:t>3</a:t>
            </a:r>
            <a:endParaRPr lang="en-US" sz="1400" dirty="0"/>
          </a:p>
        </p:txBody>
      </p:sp>
      <p:sp>
        <p:nvSpPr>
          <p:cNvPr id="14" name="Text 11"/>
          <p:cNvSpPr txBox="1"/>
          <p:nvPr/>
        </p:nvSpPr>
        <p:spPr>
          <a:xfrm>
            <a:off x="9034272" y="3822192"/>
            <a:ext cx="2624328" cy="104698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300"/>
              </a:spcAft>
              <a:buNone/>
            </a:pPr>
            <a:r>
              <a:rPr lang="en-US" sz="1500" b="1" dirty="0">
                <a:solidFill>
                  <a:schemeClr val="tx2"/>
                </a:solidFill>
              </a:rPr>
              <a:t>Filtros</a:t>
            </a:r>
            <a:endParaRPr lang="en-US" sz="1500" dirty="0"/>
          </a:p>
          <a:p>
            <a:pPr indent="0" marL="0">
              <a:spcAft>
                <a:spcPts val="300"/>
              </a:spcAft>
              <a:buNone/>
            </a:pPr>
            <a:r>
              <a:rPr lang="en-US" sz="1400" dirty="0">
                <a:solidFill>
                  <a:schemeClr val="tx1"/>
                </a:solidFill>
              </a:rPr>
              <a:t>Por categoría normativa y por profesional.</a:t>
            </a:r>
            <a:endParaRPr lang="en-US" sz="1500" dirty="0"/>
          </a:p>
        </p:txBody>
      </p:sp>
      <p:sp>
        <p:nvSpPr>
          <p:cNvPr id="15" name="num-3"/>
          <p:cNvSpPr/>
          <p:nvPr/>
        </p:nvSpPr>
        <p:spPr>
          <a:xfrm>
            <a:off x="8503920" y="4978908"/>
            <a:ext cx="384048" cy="384048"/>
          </a:xfrm>
          <a:prstGeom prst="ellipse">
            <a:avLst/>
          </a:prstGeom>
          <a:solidFill>
            <a:schemeClr val="accent2"/>
          </a:solidFill>
          <a:ln/>
        </p:spPr>
      </p:sp>
      <p:sp>
        <p:nvSpPr>
          <p:cNvPr id="16" name="Text 13"/>
          <p:cNvSpPr txBox="1"/>
          <p:nvPr/>
        </p:nvSpPr>
        <p:spPr>
          <a:xfrm>
            <a:off x="8503920" y="4978908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chemeClr val="tx2"/>
                </a:solidFill>
              </a:rPr>
              <a:t>4</a:t>
            </a:r>
            <a:endParaRPr lang="en-US" sz="1400" dirty="0"/>
          </a:p>
        </p:txBody>
      </p:sp>
      <p:sp>
        <p:nvSpPr>
          <p:cNvPr id="17" name="Text 14"/>
          <p:cNvSpPr txBox="1"/>
          <p:nvPr/>
        </p:nvSpPr>
        <p:spPr>
          <a:xfrm>
            <a:off x="9034272" y="4942332"/>
            <a:ext cx="2624328" cy="104698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300"/>
              </a:spcAft>
              <a:buNone/>
            </a:pPr>
            <a:r>
              <a:rPr lang="en-US" sz="1500" b="1" dirty="0">
                <a:solidFill>
                  <a:schemeClr val="tx2"/>
                </a:solidFill>
              </a:rPr>
              <a:t>Imprimible</a:t>
            </a:r>
            <a:endParaRPr lang="en-US" sz="1500" dirty="0"/>
          </a:p>
          <a:p>
            <a:pPr indent="0" marL="0">
              <a:spcAft>
                <a:spcPts val="300"/>
              </a:spcAft>
              <a:buNone/>
            </a:pPr>
            <a:r>
              <a:rPr lang="en-US" sz="1400" dirty="0">
                <a:solidFill>
                  <a:schemeClr val="tx1"/>
                </a:solidFill>
              </a:rPr>
              <a:t>Botón Imprimir / PDF para el informe periódico.</a:t>
            </a:r>
            <a:endParaRPr lang="en-US" sz="15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55680" y="640080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8A97AB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5</a:t>
            </a:fld>
            <a:endParaRPr lang="en-US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110642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200" b="1" dirty="0">
                <a:solidFill>
                  <a:schemeClr val="tx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Indicadores (KPI) de la Gerencia</a:t>
            </a:r>
            <a:endParaRPr lang="en-US" sz="3200" dirty="0"/>
          </a:p>
        </p:txBody>
      </p:sp>
      <p:sp>
        <p:nvSpPr>
          <p:cNvPr id="3" name="Text 0"/>
          <p:cNvSpPr/>
          <p:nvPr>
            <p:ph idx="101" type="body" hasCustomPrompt="1"/>
          </p:nvPr>
        </p:nvSpPr>
        <p:spPr>
          <a:xfrm>
            <a:off x="548640" y="960120"/>
            <a:ext cx="110642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600" dirty="0">
                <a:solidFill>
                  <a:schemeClr val="accent6"/>
                </a:solidFill>
              </a:rPr>
              <a:t>Calculados con los datos de la base; metas sugeridas institucionales</a:t>
            </a:r>
            <a:endParaRPr lang="en-US" sz="1600" dirty="0"/>
          </a:p>
        </p:txBody>
      </p:sp>
      <p:graphicFrame>
        <p:nvGraphicFramePr>
          <p:cNvPr id="7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1554480"/>
          <a:ext cx="11064240" cy="914400"/>
        </p:xfrm>
        <a:graphic>
          <a:graphicData uri="http://schemas.openxmlformats.org/drawingml/2006/table">
            <a:tbl>
              <a:tblPr/>
              <a:tblGrid>
                <a:gridCol w="3291840"/>
                <a:gridCol w="6126480"/>
                <a:gridCol w="1645920"/>
              </a:tblGrid>
              <a:tr h="4572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Indicador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38100" marB="38100" anchor="ctr">
                    <a:lnL w="6350" cap="flat" cmpd="sng" algn="ctr">
                      <a:solidFill>
                        <a:srgbClr val="D5DB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B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B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B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4305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Cómo se calcula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38100" marB="38100" anchor="ctr">
                    <a:lnL w="6350" cap="flat" cmpd="sng" algn="ctr">
                      <a:solidFill>
                        <a:srgbClr val="D5DB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B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B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B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4305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Meta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38100" marB="38100" anchor="ctr">
                    <a:lnL w="6350" cap="flat" cmpd="sng" algn="ctr">
                      <a:solidFill>
                        <a:srgbClr val="D5DB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B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B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B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4305A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1B24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Salud de la cartera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38100" marB="38100" anchor="ctr">
                    <a:lnL w="6350" cap="flat" cmpd="sng" algn="ctr">
                      <a:solidFill>
                        <a:srgbClr val="D5DB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B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B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B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4F8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B24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Procesos activos en rojo / ámbar / verde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38100" marB="38100" anchor="ctr">
                    <a:lnL w="6350" cap="flat" cmpd="sng" algn="ctr">
                      <a:solidFill>
                        <a:srgbClr val="D5DB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B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B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B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4F8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B24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 en rojo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38100" marB="38100" anchor="ctr">
                    <a:lnL w="6350" cap="flat" cmpd="sng" algn="ctr">
                      <a:solidFill>
                        <a:srgbClr val="D5DB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B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B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B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4F8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1B24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Procesos activos · en riesgo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38100" marB="38100" anchor="ctr">
                    <a:lnL w="6350" cap="flat" cmpd="sng" algn="ctr">
                      <a:solidFill>
                        <a:srgbClr val="D5DB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B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B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B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B24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Activos, nuevos del mes, suspendidos; los que están en rojo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38100" marB="38100" anchor="ctr">
                    <a:lnL w="6350" cap="flat" cmpd="sng" algn="ctr">
                      <a:solidFill>
                        <a:srgbClr val="D5DB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B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B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B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B24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—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38100" marB="38100" anchor="ctr">
                    <a:lnL w="6350" cap="flat" cmpd="sng" algn="ctr">
                      <a:solidFill>
                        <a:srgbClr val="D5DB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B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B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B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1B24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Desempeño del cronograma (SPI)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38100" marB="38100" anchor="ctr">
                    <a:lnL w="6350" cap="flat" cmpd="sng" algn="ctr">
                      <a:solidFill>
                        <a:srgbClr val="D5DB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B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B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B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4F8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B24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Tareas finalizadas ÷ tareas cuya fecha límite ya llegó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38100" marB="38100" anchor="ctr">
                    <a:lnL w="6350" cap="flat" cmpd="sng" algn="ctr">
                      <a:solidFill>
                        <a:srgbClr val="D5DB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B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B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B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4F8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B24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≥ 0,90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38100" marB="38100" anchor="ctr">
                    <a:lnL w="6350" cap="flat" cmpd="sng" algn="ctr">
                      <a:solidFill>
                        <a:srgbClr val="D5DB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B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B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B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4F8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1B24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Cumplimiento de plazos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38100" marB="38100" anchor="ctr">
                    <a:lnL w="6350" cap="flat" cmpd="sng" algn="ctr">
                      <a:solidFill>
                        <a:srgbClr val="D5DB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B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B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B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B24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Finalizadas a tiempo ÷ finalizadas con fecha límite (año)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38100" marB="38100" anchor="ctr">
                    <a:lnL w="6350" cap="flat" cmpd="sng" algn="ctr">
                      <a:solidFill>
                        <a:srgbClr val="D5DB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B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B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B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B24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≥ 90 %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38100" marB="38100" anchor="ctr">
                    <a:lnL w="6350" cap="flat" cmpd="sng" algn="ctr">
                      <a:solidFill>
                        <a:srgbClr val="D5DB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B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B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B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1B24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Tareas vencidas · sin plazo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38100" marB="38100" anchor="ctr">
                    <a:lnL w="6350" cap="flat" cmpd="sng" algn="ctr">
                      <a:solidFill>
                        <a:srgbClr val="D5DB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B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B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B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4F8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B24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Conteo de tareas vencidas y de alertas «plazo no definido»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38100" marB="38100" anchor="ctr">
                    <a:lnL w="6350" cap="flat" cmpd="sng" algn="ctr">
                      <a:solidFill>
                        <a:srgbClr val="D5DB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B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B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B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4F8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B24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38100" marB="38100" anchor="ctr">
                    <a:lnL w="6350" cap="flat" cmpd="sng" algn="ctr">
                      <a:solidFill>
                        <a:srgbClr val="D5DB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B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B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B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4F8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1B24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Plantillas por aprobar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38100" marB="38100" anchor="ctr">
                    <a:lnL w="6350" cap="flat" cmpd="sng" algn="ctr">
                      <a:solidFill>
                        <a:srgbClr val="D5DB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B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B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B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B24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Versiones enviadas pendientes de revisión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38100" marB="38100" anchor="ctr">
                    <a:lnL w="6350" cap="flat" cmpd="sng" algn="ctr">
                      <a:solidFill>
                        <a:srgbClr val="D5DB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B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B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B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B24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38100" marB="38100" anchor="ctr">
                    <a:lnL w="6350" cap="flat" cmpd="sng" algn="ctr">
                      <a:solidFill>
                        <a:srgbClr val="D5DB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B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B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B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1B24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Finalizados · ciclo medio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38100" marB="38100" anchor="ctr">
                    <a:lnL w="6350" cap="flat" cmpd="sng" algn="ctr">
                      <a:solidFill>
                        <a:srgbClr val="D5DB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B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B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B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4F8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B24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Procesos cerrados en el año; días promedio inicio → fin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38100" marB="38100" anchor="ctr">
                    <a:lnL w="6350" cap="flat" cmpd="sng" algn="ctr">
                      <a:solidFill>
                        <a:srgbClr val="D5DB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B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B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B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4F8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B24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Reducir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38100" marB="38100" anchor="ctr">
                    <a:lnL w="6350" cap="flat" cmpd="sng" algn="ctr">
                      <a:solidFill>
                        <a:srgbClr val="D5DB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B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B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B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4F8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1B24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Oportunidad de indexación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38100" marB="38100" anchor="ctr">
                    <a:lnL w="6350" cap="flat" cmpd="sng" algn="ctr">
                      <a:solidFill>
                        <a:srgbClr val="D5DB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B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B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B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B24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Mediana de días ingreso SGD → indexación en LEGAL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38100" marB="38100" anchor="ctr">
                    <a:lnL w="6350" cap="flat" cmpd="sng" algn="ctr">
                      <a:solidFill>
                        <a:srgbClr val="D5DB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B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B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B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B24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≤ 1 día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38100" marB="38100" anchor="ctr">
                    <a:lnL w="6350" cap="flat" cmpd="sng" algn="ctr">
                      <a:solidFill>
                        <a:srgbClr val="D5DB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B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B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B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55680" y="640080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8A97AB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6</a:t>
            </a:fld>
            <a:endParaRPr lang="en-US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110642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200" b="1" dirty="0">
                <a:solidFill>
                  <a:schemeClr val="tx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Desempeño por profesional</a:t>
            </a:r>
            <a:endParaRPr lang="en-US" sz="3200" dirty="0"/>
          </a:p>
        </p:txBody>
      </p:sp>
      <p:sp>
        <p:nvSpPr>
          <p:cNvPr id="3" name="Text 0"/>
          <p:cNvSpPr/>
          <p:nvPr>
            <p:ph idx="101" type="body" hasCustomPrompt="1"/>
          </p:nvPr>
        </p:nvSpPr>
        <p:spPr>
          <a:xfrm>
            <a:off x="548640" y="960120"/>
            <a:ext cx="110642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600" dirty="0">
                <a:solidFill>
                  <a:schemeClr val="accent6"/>
                </a:solidFill>
              </a:rPr>
              <a:t>Cada abogado desplegable con todos sus procesos, ordenado por riesgo</a:t>
            </a:r>
            <a:endParaRPr lang="en-US" sz="1600" dirty="0"/>
          </a:p>
        </p:txBody>
      </p:sp>
      <p:sp>
        <p:nvSpPr>
          <p:cNvPr id="4" name="marco-g-desempeno"/>
          <p:cNvSpPr/>
          <p:nvPr/>
        </p:nvSpPr>
        <p:spPr>
          <a:xfrm>
            <a:off x="548640" y="1554480"/>
            <a:ext cx="7589520" cy="4532630"/>
          </a:xfrm>
          <a:prstGeom prst="rect">
            <a:avLst/>
          </a:prstGeom>
          <a:solidFill>
            <a:srgbClr val="FFFFFF"/>
          </a:solidFill>
          <a:ln w="9525">
            <a:solidFill>
              <a:srgbClr val="D5DBE5"/>
            </a:solidFill>
            <a:prstDash val="solid"/>
          </a:ln>
          <a:effectLst>
            <a:outerShdw sx="100000" sy="100000" kx="0" ky="0" algn="bl" rotWithShape="0" blurRad="101600" dist="25400" dir="5400000">
              <a:srgbClr val="000000">
                <a:alpha val="18000"/>
              </a:srgbClr>
            </a:outerShdw>
          </a:effectLst>
        </p:spPr>
      </p:sp>
      <p:pic>
        <p:nvPicPr>
          <p:cNvPr id="5" name="captura-g-desempeno" descr="Captura de pantalla: g-desempeno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48640" y="1554480"/>
            <a:ext cx="7589520" cy="4532630"/>
          </a:xfrm>
          <a:prstGeom prst="rect">
            <a:avLst/>
          </a:prstGeom>
        </p:spPr>
      </p:pic>
      <p:sp>
        <p:nvSpPr>
          <p:cNvPr id="6" name="num-0"/>
          <p:cNvSpPr/>
          <p:nvPr/>
        </p:nvSpPr>
        <p:spPr>
          <a:xfrm>
            <a:off x="8503920" y="1618488"/>
            <a:ext cx="384048" cy="384048"/>
          </a:xfrm>
          <a:prstGeom prst="ellipse">
            <a:avLst/>
          </a:prstGeom>
          <a:solidFill>
            <a:schemeClr val="accent2"/>
          </a:solidFill>
          <a:ln/>
        </p:spPr>
      </p:sp>
      <p:sp>
        <p:nvSpPr>
          <p:cNvPr id="7" name="Text 4"/>
          <p:cNvSpPr txBox="1"/>
          <p:nvPr/>
        </p:nvSpPr>
        <p:spPr>
          <a:xfrm>
            <a:off x="8503920" y="1618488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chemeClr val="tx2"/>
                </a:solidFill>
              </a:rPr>
              <a:t>1</a:t>
            </a:r>
            <a:endParaRPr lang="en-US" sz="1400" dirty="0"/>
          </a:p>
        </p:txBody>
      </p:sp>
      <p:sp>
        <p:nvSpPr>
          <p:cNvPr id="8" name="Text 5"/>
          <p:cNvSpPr txBox="1"/>
          <p:nvPr/>
        </p:nvSpPr>
        <p:spPr>
          <a:xfrm>
            <a:off x="9034272" y="1581912"/>
            <a:ext cx="2624328" cy="104698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300"/>
              </a:spcAft>
              <a:buNone/>
            </a:pPr>
            <a:r>
              <a:rPr lang="en-US" sz="1500" b="1" dirty="0">
                <a:solidFill>
                  <a:schemeClr val="tx2"/>
                </a:solidFill>
              </a:rPr>
              <a:t>Resumen por abogado</a:t>
            </a:r>
            <a:endParaRPr lang="en-US" sz="1500" dirty="0"/>
          </a:p>
          <a:p>
            <a:pPr indent="0" marL="0">
              <a:spcAft>
                <a:spcPts val="300"/>
              </a:spcAft>
              <a:buNone/>
            </a:pPr>
            <a:r>
              <a:rPr lang="en-US" sz="1400" dirty="0">
                <a:solidFill>
                  <a:schemeClr val="tx1"/>
                </a:solidFill>
              </a:rPr>
              <a:t>Semáforo, activos, tareas abiertas, vencidas, sin plazo, cumplimiento y SPI.</a:t>
            </a:r>
            <a:endParaRPr lang="en-US" sz="1500" dirty="0"/>
          </a:p>
        </p:txBody>
      </p:sp>
      <p:sp>
        <p:nvSpPr>
          <p:cNvPr id="9" name="num-1"/>
          <p:cNvSpPr/>
          <p:nvPr/>
        </p:nvSpPr>
        <p:spPr>
          <a:xfrm>
            <a:off x="8503920" y="2738628"/>
            <a:ext cx="384048" cy="384048"/>
          </a:xfrm>
          <a:prstGeom prst="ellipse">
            <a:avLst/>
          </a:prstGeom>
          <a:solidFill>
            <a:schemeClr val="accent2"/>
          </a:solidFill>
          <a:ln/>
        </p:spPr>
      </p:sp>
      <p:sp>
        <p:nvSpPr>
          <p:cNvPr id="10" name="Text 7"/>
          <p:cNvSpPr txBox="1"/>
          <p:nvPr/>
        </p:nvSpPr>
        <p:spPr>
          <a:xfrm>
            <a:off x="8503920" y="2738628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chemeClr val="tx2"/>
                </a:solidFill>
              </a:rPr>
              <a:t>2</a:t>
            </a:r>
            <a:endParaRPr lang="en-US" sz="1400" dirty="0"/>
          </a:p>
        </p:txBody>
      </p:sp>
      <p:sp>
        <p:nvSpPr>
          <p:cNvPr id="11" name="Text 8"/>
          <p:cNvSpPr txBox="1"/>
          <p:nvPr/>
        </p:nvSpPr>
        <p:spPr>
          <a:xfrm>
            <a:off x="9034272" y="2702052"/>
            <a:ext cx="2624328" cy="104698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300"/>
              </a:spcAft>
              <a:buNone/>
            </a:pPr>
            <a:r>
              <a:rPr lang="en-US" sz="1500" b="1" dirty="0">
                <a:solidFill>
                  <a:schemeClr val="tx2"/>
                </a:solidFill>
              </a:rPr>
              <a:t>Detalle desplegable</a:t>
            </a:r>
            <a:endParaRPr lang="en-US" sz="1500" dirty="0"/>
          </a:p>
          <a:p>
            <a:pPr indent="0" marL="0">
              <a:spcAft>
                <a:spcPts val="300"/>
              </a:spcAft>
              <a:buNone/>
            </a:pPr>
            <a:r>
              <a:rPr lang="en-US" sz="1400" dirty="0">
                <a:solidFill>
                  <a:schemeClr val="tx1"/>
                </a:solidFill>
              </a:rPr>
              <a:t>Cada proceso con su salud, avance real vs. plan y tarea en curso.</a:t>
            </a:r>
            <a:endParaRPr lang="en-US" sz="1500" dirty="0"/>
          </a:p>
        </p:txBody>
      </p:sp>
      <p:sp>
        <p:nvSpPr>
          <p:cNvPr id="12" name="num-2"/>
          <p:cNvSpPr/>
          <p:nvPr/>
        </p:nvSpPr>
        <p:spPr>
          <a:xfrm>
            <a:off x="8503920" y="3858768"/>
            <a:ext cx="384048" cy="384048"/>
          </a:xfrm>
          <a:prstGeom prst="ellipse">
            <a:avLst/>
          </a:prstGeom>
          <a:solidFill>
            <a:schemeClr val="accent2"/>
          </a:solidFill>
          <a:ln/>
        </p:spPr>
      </p:sp>
      <p:sp>
        <p:nvSpPr>
          <p:cNvPr id="13" name="Text 10"/>
          <p:cNvSpPr txBox="1"/>
          <p:nvPr/>
        </p:nvSpPr>
        <p:spPr>
          <a:xfrm>
            <a:off x="8503920" y="3858768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chemeClr val="tx2"/>
                </a:solidFill>
              </a:rPr>
              <a:t>3</a:t>
            </a:r>
            <a:endParaRPr lang="en-US" sz="1400" dirty="0"/>
          </a:p>
        </p:txBody>
      </p:sp>
      <p:sp>
        <p:nvSpPr>
          <p:cNvPr id="14" name="Text 11"/>
          <p:cNvSpPr txBox="1"/>
          <p:nvPr/>
        </p:nvSpPr>
        <p:spPr>
          <a:xfrm>
            <a:off x="9034272" y="3822192"/>
            <a:ext cx="2624328" cy="104698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300"/>
              </a:spcAft>
              <a:buNone/>
            </a:pPr>
            <a:r>
              <a:rPr lang="en-US" sz="1500" b="1" dirty="0">
                <a:solidFill>
                  <a:schemeClr val="tx2"/>
                </a:solidFill>
              </a:rPr>
              <a:t>Próximo vencimiento</a:t>
            </a:r>
            <a:endParaRPr lang="en-US" sz="1500" dirty="0"/>
          </a:p>
          <a:p>
            <a:pPr indent="0" marL="0">
              <a:spcAft>
                <a:spcPts val="300"/>
              </a:spcAft>
              <a:buNone/>
            </a:pPr>
            <a:r>
              <a:rPr lang="en-US" sz="1400" dirty="0">
                <a:solidFill>
                  <a:schemeClr val="tx1"/>
                </a:solidFill>
              </a:rPr>
              <a:t>Qué vence y cuándo, para priorizar el seguimiento.</a:t>
            </a:r>
            <a:endParaRPr lang="en-US" sz="1500" dirty="0"/>
          </a:p>
        </p:txBody>
      </p:sp>
      <p:sp>
        <p:nvSpPr>
          <p:cNvPr id="15" name="num-3"/>
          <p:cNvSpPr/>
          <p:nvPr/>
        </p:nvSpPr>
        <p:spPr>
          <a:xfrm>
            <a:off x="8503920" y="4978908"/>
            <a:ext cx="384048" cy="384048"/>
          </a:xfrm>
          <a:prstGeom prst="ellipse">
            <a:avLst/>
          </a:prstGeom>
          <a:solidFill>
            <a:schemeClr val="accent2"/>
          </a:solidFill>
          <a:ln/>
        </p:spPr>
      </p:sp>
      <p:sp>
        <p:nvSpPr>
          <p:cNvPr id="16" name="Text 13"/>
          <p:cNvSpPr txBox="1"/>
          <p:nvPr/>
        </p:nvSpPr>
        <p:spPr>
          <a:xfrm>
            <a:off x="8503920" y="4978908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chemeClr val="tx2"/>
                </a:solidFill>
              </a:rPr>
              <a:t>4</a:t>
            </a:r>
            <a:endParaRPr lang="en-US" sz="1400" dirty="0"/>
          </a:p>
        </p:txBody>
      </p:sp>
      <p:sp>
        <p:nvSpPr>
          <p:cNvPr id="17" name="Text 14"/>
          <p:cNvSpPr txBox="1"/>
          <p:nvPr/>
        </p:nvSpPr>
        <p:spPr>
          <a:xfrm>
            <a:off x="9034272" y="4942332"/>
            <a:ext cx="2624328" cy="104698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300"/>
              </a:spcAft>
              <a:buNone/>
            </a:pPr>
            <a:r>
              <a:rPr lang="en-US" sz="1500" b="1" dirty="0">
                <a:solidFill>
                  <a:schemeClr val="tx2"/>
                </a:solidFill>
              </a:rPr>
              <a:t>Balance de carga</a:t>
            </a:r>
            <a:endParaRPr lang="en-US" sz="1500" dirty="0"/>
          </a:p>
          <a:p>
            <a:pPr indent="0" marL="0">
              <a:spcAft>
                <a:spcPts val="300"/>
              </a:spcAft>
              <a:buNone/>
            </a:pPr>
            <a:r>
              <a:rPr lang="en-US" sz="1400" dirty="0">
                <a:solidFill>
                  <a:schemeClr val="tx1"/>
                </a:solidFill>
              </a:rPr>
              <a:t>Base para redistribuir procesos entre abogados.</a:t>
            </a:r>
            <a:endParaRPr lang="en-US" sz="15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55680" y="640080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8A97AB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7</a:t>
            </a:fld>
            <a:endParaRPr lang="en-US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110642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200" b="1" dirty="0">
                <a:solidFill>
                  <a:schemeClr val="tx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Alertas por prioridad y agenda de plazos</a:t>
            </a:r>
            <a:endParaRPr lang="en-US" sz="3200" dirty="0"/>
          </a:p>
        </p:txBody>
      </p:sp>
      <p:sp>
        <p:nvSpPr>
          <p:cNvPr id="3" name="Text 0"/>
          <p:cNvSpPr/>
          <p:nvPr>
            <p:ph idx="101" type="body" hasCustomPrompt="1"/>
          </p:nvPr>
        </p:nvSpPr>
        <p:spPr>
          <a:xfrm>
            <a:off x="548640" y="960120"/>
            <a:ext cx="110642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600" dirty="0">
                <a:solidFill>
                  <a:schemeClr val="accent6"/>
                </a:solidFill>
              </a:rPr>
              <a:t>Seguimiento semanal de toda la cartera desde el mismo panel</a:t>
            </a:r>
            <a:endParaRPr lang="en-US" sz="1600" dirty="0"/>
          </a:p>
        </p:txBody>
      </p:sp>
      <p:sp>
        <p:nvSpPr>
          <p:cNvPr id="4" name="marco-g-alertas-agenda"/>
          <p:cNvSpPr/>
          <p:nvPr/>
        </p:nvSpPr>
        <p:spPr>
          <a:xfrm>
            <a:off x="548640" y="1554480"/>
            <a:ext cx="7589520" cy="4532630"/>
          </a:xfrm>
          <a:prstGeom prst="rect">
            <a:avLst/>
          </a:prstGeom>
          <a:solidFill>
            <a:srgbClr val="FFFFFF"/>
          </a:solidFill>
          <a:ln w="9525">
            <a:solidFill>
              <a:srgbClr val="D5DBE5"/>
            </a:solidFill>
            <a:prstDash val="solid"/>
          </a:ln>
          <a:effectLst>
            <a:outerShdw sx="100000" sy="100000" kx="0" ky="0" algn="bl" rotWithShape="0" blurRad="101600" dist="25400" dir="5400000">
              <a:srgbClr val="000000">
                <a:alpha val="18000"/>
              </a:srgbClr>
            </a:outerShdw>
          </a:effectLst>
        </p:spPr>
      </p:sp>
      <p:pic>
        <p:nvPicPr>
          <p:cNvPr id="5" name="captura-g-alertas-agenda" descr="Captura de pantalla: g-alertas-agenda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48640" y="1554480"/>
            <a:ext cx="7589520" cy="4532630"/>
          </a:xfrm>
          <a:prstGeom prst="rect">
            <a:avLst/>
          </a:prstGeom>
        </p:spPr>
      </p:pic>
      <p:sp>
        <p:nvSpPr>
          <p:cNvPr id="6" name="num-0"/>
          <p:cNvSpPr/>
          <p:nvPr/>
        </p:nvSpPr>
        <p:spPr>
          <a:xfrm>
            <a:off x="8503920" y="1618488"/>
            <a:ext cx="384048" cy="384048"/>
          </a:xfrm>
          <a:prstGeom prst="ellipse">
            <a:avLst/>
          </a:prstGeom>
          <a:solidFill>
            <a:schemeClr val="accent2"/>
          </a:solidFill>
          <a:ln/>
        </p:spPr>
      </p:sp>
      <p:sp>
        <p:nvSpPr>
          <p:cNvPr id="7" name="Text 4"/>
          <p:cNvSpPr txBox="1"/>
          <p:nvPr/>
        </p:nvSpPr>
        <p:spPr>
          <a:xfrm>
            <a:off x="8503920" y="1618488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chemeClr val="tx2"/>
                </a:solidFill>
              </a:rPr>
              <a:t>1</a:t>
            </a:r>
            <a:endParaRPr lang="en-US" sz="1400" dirty="0"/>
          </a:p>
        </p:txBody>
      </p:sp>
      <p:sp>
        <p:nvSpPr>
          <p:cNvPr id="8" name="Text 5"/>
          <p:cNvSpPr txBox="1"/>
          <p:nvPr/>
        </p:nvSpPr>
        <p:spPr>
          <a:xfrm>
            <a:off x="9034272" y="1581912"/>
            <a:ext cx="2624328" cy="104698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300"/>
              </a:spcAft>
              <a:buNone/>
            </a:pPr>
            <a:r>
              <a:rPr lang="en-US" sz="1500" b="1" dirty="0">
                <a:solidFill>
                  <a:schemeClr val="tx2"/>
                </a:solidFill>
              </a:rPr>
              <a:t>Alertas agrupadas</a:t>
            </a:r>
            <a:endParaRPr lang="en-US" sz="1500" dirty="0"/>
          </a:p>
          <a:p>
            <a:pPr indent="0" marL="0">
              <a:spcAft>
                <a:spcPts val="300"/>
              </a:spcAft>
              <a:buNone/>
            </a:pPr>
            <a:r>
              <a:rPr lang="en-US" sz="1400" dirty="0">
                <a:solidFill>
                  <a:schemeClr val="tx1"/>
                </a:solidFill>
              </a:rPr>
              <a:t>Críticas y altas desplegadas; medias y avisos contraídos.</a:t>
            </a:r>
            <a:endParaRPr lang="en-US" sz="1500" dirty="0"/>
          </a:p>
        </p:txBody>
      </p:sp>
      <p:sp>
        <p:nvSpPr>
          <p:cNvPr id="9" name="num-1"/>
          <p:cNvSpPr/>
          <p:nvPr/>
        </p:nvSpPr>
        <p:spPr>
          <a:xfrm>
            <a:off x="8503920" y="2738628"/>
            <a:ext cx="384048" cy="384048"/>
          </a:xfrm>
          <a:prstGeom prst="ellipse">
            <a:avLst/>
          </a:prstGeom>
          <a:solidFill>
            <a:schemeClr val="accent2"/>
          </a:solidFill>
          <a:ln/>
        </p:spPr>
      </p:sp>
      <p:sp>
        <p:nvSpPr>
          <p:cNvPr id="10" name="Text 7"/>
          <p:cNvSpPr txBox="1"/>
          <p:nvPr/>
        </p:nvSpPr>
        <p:spPr>
          <a:xfrm>
            <a:off x="8503920" y="2738628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chemeClr val="tx2"/>
                </a:solidFill>
              </a:rPr>
              <a:t>2</a:t>
            </a:r>
            <a:endParaRPr lang="en-US" sz="1400" dirty="0"/>
          </a:p>
        </p:txBody>
      </p:sp>
      <p:sp>
        <p:nvSpPr>
          <p:cNvPr id="11" name="Text 8"/>
          <p:cNvSpPr txBox="1"/>
          <p:nvPr/>
        </p:nvSpPr>
        <p:spPr>
          <a:xfrm>
            <a:off x="9034272" y="2702052"/>
            <a:ext cx="2624328" cy="104698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300"/>
              </a:spcAft>
              <a:buNone/>
            </a:pPr>
            <a:r>
              <a:rPr lang="en-US" sz="1500" b="1" dirty="0">
                <a:solidFill>
                  <a:schemeClr val="tx2"/>
                </a:solidFill>
              </a:rPr>
              <a:t>Agenda de la cartera</a:t>
            </a:r>
            <a:endParaRPr lang="en-US" sz="1500" dirty="0"/>
          </a:p>
          <a:p>
            <a:pPr indent="0" marL="0">
              <a:spcAft>
                <a:spcPts val="300"/>
              </a:spcAft>
              <a:buNone/>
            </a:pPr>
            <a:r>
              <a:rPr lang="en-US" sz="1400" dirty="0">
                <a:solidFill>
                  <a:schemeClr val="tx1"/>
                </a:solidFill>
              </a:rPr>
              <a:t>Vencidas, por vencer, sin plazo y próximos 30 días.</a:t>
            </a:r>
            <a:endParaRPr lang="en-US" sz="1500" dirty="0"/>
          </a:p>
        </p:txBody>
      </p:sp>
      <p:sp>
        <p:nvSpPr>
          <p:cNvPr id="12" name="num-2"/>
          <p:cNvSpPr/>
          <p:nvPr/>
        </p:nvSpPr>
        <p:spPr>
          <a:xfrm>
            <a:off x="8503920" y="3858768"/>
            <a:ext cx="384048" cy="384048"/>
          </a:xfrm>
          <a:prstGeom prst="ellipse">
            <a:avLst/>
          </a:prstGeom>
          <a:solidFill>
            <a:schemeClr val="accent2"/>
          </a:solidFill>
          <a:ln/>
        </p:spPr>
      </p:sp>
      <p:sp>
        <p:nvSpPr>
          <p:cNvPr id="13" name="Text 10"/>
          <p:cNvSpPr txBox="1"/>
          <p:nvPr/>
        </p:nvSpPr>
        <p:spPr>
          <a:xfrm>
            <a:off x="8503920" y="3858768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chemeClr val="tx2"/>
                </a:solidFill>
              </a:rPr>
              <a:t>3</a:t>
            </a:r>
            <a:endParaRPr lang="en-US" sz="1400" dirty="0"/>
          </a:p>
        </p:txBody>
      </p:sp>
      <p:sp>
        <p:nvSpPr>
          <p:cNvPr id="14" name="Text 11"/>
          <p:cNvSpPr txBox="1"/>
          <p:nvPr/>
        </p:nvSpPr>
        <p:spPr>
          <a:xfrm>
            <a:off x="9034272" y="3822192"/>
            <a:ext cx="2624328" cy="104698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300"/>
              </a:spcAft>
              <a:buNone/>
            </a:pPr>
            <a:r>
              <a:rPr lang="en-US" sz="1500" b="1" dirty="0">
                <a:solidFill>
                  <a:schemeClr val="tx2"/>
                </a:solidFill>
              </a:rPr>
              <a:t>Con responsable</a:t>
            </a:r>
            <a:endParaRPr lang="en-US" sz="1500" dirty="0"/>
          </a:p>
          <a:p>
            <a:pPr indent="0" marL="0">
              <a:spcAft>
                <a:spcPts val="300"/>
              </a:spcAft>
              <a:buNone/>
            </a:pPr>
            <a:r>
              <a:rPr lang="en-US" sz="1400" dirty="0">
                <a:solidFill>
                  <a:schemeClr val="tx1"/>
                </a:solidFill>
              </a:rPr>
              <a:t>Cada ítem muestra el profesional a cargo.</a:t>
            </a:r>
            <a:endParaRPr lang="en-US" sz="1500" dirty="0"/>
          </a:p>
        </p:txBody>
      </p:sp>
      <p:sp>
        <p:nvSpPr>
          <p:cNvPr id="15" name="num-3"/>
          <p:cNvSpPr/>
          <p:nvPr/>
        </p:nvSpPr>
        <p:spPr>
          <a:xfrm>
            <a:off x="8503920" y="4978908"/>
            <a:ext cx="384048" cy="384048"/>
          </a:xfrm>
          <a:prstGeom prst="ellipse">
            <a:avLst/>
          </a:prstGeom>
          <a:solidFill>
            <a:schemeClr val="accent2"/>
          </a:solidFill>
          <a:ln/>
        </p:spPr>
      </p:sp>
      <p:sp>
        <p:nvSpPr>
          <p:cNvPr id="16" name="Text 13"/>
          <p:cNvSpPr txBox="1"/>
          <p:nvPr/>
        </p:nvSpPr>
        <p:spPr>
          <a:xfrm>
            <a:off x="8503920" y="4978908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chemeClr val="tx2"/>
                </a:solidFill>
              </a:rPr>
              <a:t>4</a:t>
            </a:r>
            <a:endParaRPr lang="en-US" sz="1400" dirty="0"/>
          </a:p>
        </p:txBody>
      </p:sp>
      <p:sp>
        <p:nvSpPr>
          <p:cNvPr id="17" name="Text 14"/>
          <p:cNvSpPr txBox="1"/>
          <p:nvPr/>
        </p:nvSpPr>
        <p:spPr>
          <a:xfrm>
            <a:off x="9034272" y="4942332"/>
            <a:ext cx="2624328" cy="104698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300"/>
              </a:spcAft>
              <a:buNone/>
            </a:pPr>
            <a:r>
              <a:rPr lang="en-US" sz="1500" b="1" dirty="0">
                <a:solidFill>
                  <a:schemeClr val="tx2"/>
                </a:solidFill>
              </a:rPr>
              <a:t>Acceso directo</a:t>
            </a:r>
            <a:endParaRPr lang="en-US" sz="1500" dirty="0"/>
          </a:p>
          <a:p>
            <a:pPr indent="0" marL="0">
              <a:spcAft>
                <a:spcPts val="300"/>
              </a:spcAft>
              <a:buNone/>
            </a:pPr>
            <a:r>
              <a:rPr lang="en-US" sz="1400" dirty="0">
                <a:solidFill>
                  <a:schemeClr val="tx1"/>
                </a:solidFill>
              </a:rPr>
              <a:t>Enlace «Abrir» a la tarea o al proceso.</a:t>
            </a:r>
            <a:endParaRPr lang="en-US" sz="15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55680" y="640080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8A97AB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8</a:t>
            </a:fld>
            <a:endParaRPr lang="en-US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110642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200" b="1" dirty="0">
                <a:solidFill>
                  <a:schemeClr val="tx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Distribución de la cartera</a:t>
            </a:r>
            <a:endParaRPr lang="en-US" sz="3200" dirty="0"/>
          </a:p>
        </p:txBody>
      </p:sp>
      <p:sp>
        <p:nvSpPr>
          <p:cNvPr id="3" name="Text 0"/>
          <p:cNvSpPr/>
          <p:nvPr>
            <p:ph idx="101" type="body" hasCustomPrompt="1"/>
          </p:nvPr>
        </p:nvSpPr>
        <p:spPr>
          <a:xfrm>
            <a:off x="548640" y="960120"/>
            <a:ext cx="110642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600" dirty="0">
                <a:solidFill>
                  <a:schemeClr val="accent6"/>
                </a:solidFill>
              </a:rPr>
              <a:t>Gráficos de demanda y especialización</a:t>
            </a:r>
            <a:endParaRPr lang="en-US" sz="1600" dirty="0"/>
          </a:p>
        </p:txBody>
      </p:sp>
      <p:sp>
        <p:nvSpPr>
          <p:cNvPr id="4" name="marco-g-graficos"/>
          <p:cNvSpPr/>
          <p:nvPr/>
        </p:nvSpPr>
        <p:spPr>
          <a:xfrm>
            <a:off x="548640" y="1554480"/>
            <a:ext cx="7589520" cy="4532630"/>
          </a:xfrm>
          <a:prstGeom prst="rect">
            <a:avLst/>
          </a:prstGeom>
          <a:solidFill>
            <a:srgbClr val="FFFFFF"/>
          </a:solidFill>
          <a:ln w="9525">
            <a:solidFill>
              <a:srgbClr val="D5DBE5"/>
            </a:solidFill>
            <a:prstDash val="solid"/>
          </a:ln>
          <a:effectLst>
            <a:outerShdw sx="100000" sy="100000" kx="0" ky="0" algn="bl" rotWithShape="0" blurRad="101600" dist="25400" dir="5400000">
              <a:srgbClr val="000000">
                <a:alpha val="18000"/>
              </a:srgbClr>
            </a:outerShdw>
          </a:effectLst>
        </p:spPr>
      </p:sp>
      <p:pic>
        <p:nvPicPr>
          <p:cNvPr id="5" name="captura-g-graficos" descr="Captura de pantalla: g-graficos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48640" y="1554480"/>
            <a:ext cx="7589520" cy="4532630"/>
          </a:xfrm>
          <a:prstGeom prst="rect">
            <a:avLst/>
          </a:prstGeom>
        </p:spPr>
      </p:pic>
      <p:sp>
        <p:nvSpPr>
          <p:cNvPr id="6" name="num-0"/>
          <p:cNvSpPr/>
          <p:nvPr/>
        </p:nvSpPr>
        <p:spPr>
          <a:xfrm>
            <a:off x="8503920" y="1618488"/>
            <a:ext cx="384048" cy="384048"/>
          </a:xfrm>
          <a:prstGeom prst="ellipse">
            <a:avLst/>
          </a:prstGeom>
          <a:solidFill>
            <a:schemeClr val="accent2"/>
          </a:solidFill>
          <a:ln/>
        </p:spPr>
      </p:sp>
      <p:sp>
        <p:nvSpPr>
          <p:cNvPr id="7" name="Text 4"/>
          <p:cNvSpPr txBox="1"/>
          <p:nvPr/>
        </p:nvSpPr>
        <p:spPr>
          <a:xfrm>
            <a:off x="8503920" y="1618488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chemeClr val="tx2"/>
                </a:solidFill>
              </a:rPr>
              <a:t>1</a:t>
            </a:r>
            <a:endParaRPr lang="en-US" sz="1400" dirty="0"/>
          </a:p>
        </p:txBody>
      </p:sp>
      <p:sp>
        <p:nvSpPr>
          <p:cNvPr id="8" name="Text 5"/>
          <p:cNvSpPr txBox="1"/>
          <p:nvPr/>
        </p:nvSpPr>
        <p:spPr>
          <a:xfrm>
            <a:off x="9034272" y="1581912"/>
            <a:ext cx="2624328" cy="14203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300"/>
              </a:spcAft>
              <a:buNone/>
            </a:pPr>
            <a:r>
              <a:rPr lang="en-US" sz="1500" b="1" dirty="0">
                <a:solidFill>
                  <a:schemeClr val="tx2"/>
                </a:solidFill>
              </a:rPr>
              <a:t>Por categoría</a:t>
            </a:r>
            <a:endParaRPr lang="en-US" sz="1500" dirty="0"/>
          </a:p>
          <a:p>
            <a:pPr indent="0" marL="0">
              <a:spcAft>
                <a:spcPts val="300"/>
              </a:spcAft>
              <a:buNone/>
            </a:pPr>
            <a:r>
              <a:rPr lang="en-US" sz="1400" dirty="0">
                <a:solidFill>
                  <a:schemeClr val="tx1"/>
                </a:solidFill>
              </a:rPr>
              <a:t>Procesos activos según la taxonomía normativa peruana.</a:t>
            </a:r>
            <a:endParaRPr lang="en-US" sz="1500" dirty="0"/>
          </a:p>
        </p:txBody>
      </p:sp>
      <p:sp>
        <p:nvSpPr>
          <p:cNvPr id="9" name="num-1"/>
          <p:cNvSpPr/>
          <p:nvPr/>
        </p:nvSpPr>
        <p:spPr>
          <a:xfrm>
            <a:off x="8503920" y="3112008"/>
            <a:ext cx="384048" cy="384048"/>
          </a:xfrm>
          <a:prstGeom prst="ellipse">
            <a:avLst/>
          </a:prstGeom>
          <a:solidFill>
            <a:schemeClr val="accent2"/>
          </a:solidFill>
          <a:ln/>
        </p:spPr>
      </p:sp>
      <p:sp>
        <p:nvSpPr>
          <p:cNvPr id="10" name="Text 7"/>
          <p:cNvSpPr txBox="1"/>
          <p:nvPr/>
        </p:nvSpPr>
        <p:spPr>
          <a:xfrm>
            <a:off x="8503920" y="3112008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chemeClr val="tx2"/>
                </a:solidFill>
              </a:rPr>
              <a:t>2</a:t>
            </a:r>
            <a:endParaRPr lang="en-US" sz="1400" dirty="0"/>
          </a:p>
        </p:txBody>
      </p:sp>
      <p:sp>
        <p:nvSpPr>
          <p:cNvPr id="11" name="Text 8"/>
          <p:cNvSpPr txBox="1"/>
          <p:nvPr/>
        </p:nvSpPr>
        <p:spPr>
          <a:xfrm>
            <a:off x="9034272" y="3075432"/>
            <a:ext cx="2624328" cy="14203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300"/>
              </a:spcAft>
              <a:buNone/>
            </a:pPr>
            <a:r>
              <a:rPr lang="en-US" sz="1500" b="1" dirty="0">
                <a:solidFill>
                  <a:schemeClr val="tx2"/>
                </a:solidFill>
              </a:rPr>
              <a:t>Por vía procedimental</a:t>
            </a:r>
            <a:endParaRPr lang="en-US" sz="1500" dirty="0"/>
          </a:p>
          <a:p>
            <a:pPr indent="0" marL="0">
              <a:spcAft>
                <a:spcPts val="300"/>
              </a:spcAft>
              <a:buNone/>
            </a:pPr>
            <a:r>
              <a:rPr lang="en-US" sz="1400" dirty="0">
                <a:solidFill>
                  <a:schemeClr val="tx1"/>
                </a:solidFill>
              </a:rPr>
              <a:t>Las 8 vías con más procesos activos.</a:t>
            </a:r>
            <a:endParaRPr lang="en-US" sz="1500" dirty="0"/>
          </a:p>
        </p:txBody>
      </p:sp>
      <p:sp>
        <p:nvSpPr>
          <p:cNvPr id="12" name="num-2"/>
          <p:cNvSpPr/>
          <p:nvPr/>
        </p:nvSpPr>
        <p:spPr>
          <a:xfrm>
            <a:off x="8503920" y="4605528"/>
            <a:ext cx="384048" cy="384048"/>
          </a:xfrm>
          <a:prstGeom prst="ellipse">
            <a:avLst/>
          </a:prstGeom>
          <a:solidFill>
            <a:schemeClr val="accent2"/>
          </a:solidFill>
          <a:ln/>
        </p:spPr>
      </p:sp>
      <p:sp>
        <p:nvSpPr>
          <p:cNvPr id="13" name="Text 10"/>
          <p:cNvSpPr txBox="1"/>
          <p:nvPr/>
        </p:nvSpPr>
        <p:spPr>
          <a:xfrm>
            <a:off x="8503920" y="4605528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chemeClr val="tx2"/>
                </a:solidFill>
              </a:rPr>
              <a:t>3</a:t>
            </a:r>
            <a:endParaRPr lang="en-US" sz="1400" dirty="0"/>
          </a:p>
        </p:txBody>
      </p:sp>
      <p:sp>
        <p:nvSpPr>
          <p:cNvPr id="14" name="Text 11"/>
          <p:cNvSpPr txBox="1"/>
          <p:nvPr/>
        </p:nvSpPr>
        <p:spPr>
          <a:xfrm>
            <a:off x="9034272" y="4568952"/>
            <a:ext cx="2624328" cy="14203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300"/>
              </a:spcAft>
              <a:buNone/>
            </a:pPr>
            <a:r>
              <a:rPr lang="en-US" sz="1500" b="1" dirty="0">
                <a:solidFill>
                  <a:schemeClr val="tx2"/>
                </a:solidFill>
              </a:rPr>
              <a:t>Trámites por semana</a:t>
            </a:r>
            <a:endParaRPr lang="en-US" sz="1500" dirty="0"/>
          </a:p>
          <a:p>
            <a:pPr indent="0" marL="0">
              <a:spcAft>
                <a:spcPts val="300"/>
              </a:spcAft>
              <a:buNone/>
            </a:pPr>
            <a:r>
              <a:rPr lang="en-US" sz="1400" dirty="0">
                <a:solidFill>
                  <a:schemeClr val="tx1"/>
                </a:solidFill>
              </a:rPr>
              <a:t>Indexaciones del SGD de las últimas 8 semanas.</a:t>
            </a:r>
            <a:endParaRPr lang="en-US" sz="15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55680" y="640080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8A97AB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9</a:t>
            </a:fld>
            <a:endParaRPr lang="en-US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110642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200" b="1" dirty="0">
                <a:solidFill>
                  <a:schemeClr val="tx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Cartera de procesos</a:t>
            </a:r>
            <a:endParaRPr lang="en-US" sz="3200" dirty="0"/>
          </a:p>
        </p:txBody>
      </p:sp>
      <p:sp>
        <p:nvSpPr>
          <p:cNvPr id="3" name="Text 0"/>
          <p:cNvSpPr/>
          <p:nvPr>
            <p:ph idx="101" type="body" hasCustomPrompt="1"/>
          </p:nvPr>
        </p:nvSpPr>
        <p:spPr>
          <a:xfrm>
            <a:off x="548640" y="960120"/>
            <a:ext cx="110642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600" dirty="0">
                <a:solidFill>
                  <a:schemeClr val="accent6"/>
                </a:solidFill>
              </a:rPr>
              <a:t>Toda la cartera con filtros, y el detalle completo de cada proceso</a:t>
            </a:r>
            <a:endParaRPr lang="en-US" sz="1600" dirty="0"/>
          </a:p>
        </p:txBody>
      </p:sp>
      <p:sp>
        <p:nvSpPr>
          <p:cNvPr id="4" name="marco-g-procesos"/>
          <p:cNvSpPr/>
          <p:nvPr/>
        </p:nvSpPr>
        <p:spPr>
          <a:xfrm>
            <a:off x="548640" y="1554480"/>
            <a:ext cx="5394960" cy="3221990"/>
          </a:xfrm>
          <a:prstGeom prst="rect">
            <a:avLst/>
          </a:prstGeom>
          <a:solidFill>
            <a:srgbClr val="FFFFFF"/>
          </a:solidFill>
          <a:ln w="9525">
            <a:solidFill>
              <a:srgbClr val="D5DBE5"/>
            </a:solidFill>
            <a:prstDash val="solid"/>
          </a:ln>
          <a:effectLst>
            <a:outerShdw sx="100000" sy="100000" kx="0" ky="0" algn="bl" rotWithShape="0" blurRad="101600" dist="25400" dir="5400000">
              <a:srgbClr val="000000">
                <a:alpha val="18000"/>
              </a:srgbClr>
            </a:outerShdw>
          </a:effectLst>
        </p:spPr>
      </p:sp>
      <p:pic>
        <p:nvPicPr>
          <p:cNvPr id="5" name="captura-g-procesos" descr="Captura de pantalla: g-procesos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48640" y="1554480"/>
            <a:ext cx="5394960" cy="3221990"/>
          </a:xfrm>
          <a:prstGeom prst="rect">
            <a:avLst/>
          </a:prstGeom>
        </p:spPr>
      </p:pic>
      <p:sp>
        <p:nvSpPr>
          <p:cNvPr id="6" name="marco-g-proceso"/>
          <p:cNvSpPr/>
          <p:nvPr/>
        </p:nvSpPr>
        <p:spPr>
          <a:xfrm>
            <a:off x="6217920" y="1554480"/>
            <a:ext cx="5394960" cy="3221990"/>
          </a:xfrm>
          <a:prstGeom prst="rect">
            <a:avLst/>
          </a:prstGeom>
          <a:solidFill>
            <a:srgbClr val="FFFFFF"/>
          </a:solidFill>
          <a:ln w="9525">
            <a:solidFill>
              <a:srgbClr val="D5DBE5"/>
            </a:solidFill>
            <a:prstDash val="solid"/>
          </a:ln>
          <a:effectLst>
            <a:outerShdw sx="100000" sy="100000" kx="0" ky="0" algn="bl" rotWithShape="0" blurRad="101600" dist="25400" dir="5400000">
              <a:srgbClr val="000000">
                <a:alpha val="18000"/>
              </a:srgbClr>
            </a:outerShdw>
          </a:effectLst>
        </p:spPr>
      </p:sp>
      <p:pic>
        <p:nvPicPr>
          <p:cNvPr id="7" name="captura-g-proceso" descr="Captura de pantalla: g-proceso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217920" y="1554480"/>
            <a:ext cx="5394960" cy="3221990"/>
          </a:xfrm>
          <a:prstGeom prst="rect">
            <a:avLst/>
          </a:prstGeom>
        </p:spPr>
      </p:pic>
      <p:sp>
        <p:nvSpPr>
          <p:cNvPr id="8" name="Text 4"/>
          <p:cNvSpPr txBox="1"/>
          <p:nvPr/>
        </p:nvSpPr>
        <p:spPr>
          <a:xfrm>
            <a:off x="548640" y="4983480"/>
            <a:ext cx="539496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rgbClr val="14305A"/>
                </a:solidFill>
              </a:rPr>
              <a:t>Listado: </a:t>
            </a:r>
            <a:pPr indent="0" marL="0">
              <a:buNone/>
            </a:pPr>
            <a:r>
              <a:rPr lang="en-US" sz="1400" dirty="0">
                <a:solidFill>
                  <a:srgbClr val="1B2433"/>
                </a:solidFill>
              </a:rPr>
              <a:t>búsqueda por código, título o expediente; filtros por categoría, vía, profesional y estado; avance, próximo vencimiento y alertas.</a:t>
            </a:r>
            <a:endParaRPr lang="en-US" sz="1400" dirty="0"/>
          </a:p>
        </p:txBody>
      </p:sp>
      <p:sp>
        <p:nvSpPr>
          <p:cNvPr id="9" name="Text 5"/>
          <p:cNvSpPr txBox="1"/>
          <p:nvPr/>
        </p:nvSpPr>
        <p:spPr>
          <a:xfrm>
            <a:off x="6217920" y="4983480"/>
            <a:ext cx="539496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rgbClr val="14305A"/>
                </a:solidFill>
              </a:rPr>
              <a:t>Detalle: </a:t>
            </a:r>
            <a:pPr indent="0" marL="0">
              <a:buNone/>
            </a:pPr>
            <a:r>
              <a:rPr lang="en-US" sz="1400" dirty="0">
                <a:solidFill>
                  <a:srgbClr val="1B2433"/>
                </a:solidFill>
              </a:rPr>
              <a:t>datos judiciales, ciclo de tareas con estado y plazo, documentos del SGD. Acciones: suspender, reactivar, finalizar, editar, reasignar.</a:t>
            </a:r>
            <a:endParaRPr lang="en-US" sz="1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55680" y="640080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8A97AB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10</a:t>
            </a:fld>
            <a:endParaRPr lang="en-US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110642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200" b="1" dirty="0">
                <a:solidFill>
                  <a:schemeClr val="tx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Reasignar profesional</a:t>
            </a:r>
            <a:endParaRPr lang="en-US" sz="3200" dirty="0"/>
          </a:p>
        </p:txBody>
      </p:sp>
      <p:sp>
        <p:nvSpPr>
          <p:cNvPr id="3" name="Text 0"/>
          <p:cNvSpPr/>
          <p:nvPr>
            <p:ph idx="101" type="body" hasCustomPrompt="1"/>
          </p:nvPr>
        </p:nvSpPr>
        <p:spPr>
          <a:xfrm>
            <a:off x="548640" y="960120"/>
            <a:ext cx="110642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600" dirty="0">
                <a:solidFill>
                  <a:schemeClr val="accent6"/>
                </a:solidFill>
              </a:rPr>
              <a:t>Redistribuir la carga sin perder el historial</a:t>
            </a:r>
            <a:endParaRPr lang="en-US" sz="1600" dirty="0"/>
          </a:p>
        </p:txBody>
      </p:sp>
      <p:sp>
        <p:nvSpPr>
          <p:cNvPr id="4" name="marco-g-reasignar"/>
          <p:cNvSpPr/>
          <p:nvPr/>
        </p:nvSpPr>
        <p:spPr>
          <a:xfrm>
            <a:off x="548640" y="1554480"/>
            <a:ext cx="7589520" cy="4532630"/>
          </a:xfrm>
          <a:prstGeom prst="rect">
            <a:avLst/>
          </a:prstGeom>
          <a:solidFill>
            <a:srgbClr val="FFFFFF"/>
          </a:solidFill>
          <a:ln w="9525">
            <a:solidFill>
              <a:srgbClr val="D5DBE5"/>
            </a:solidFill>
            <a:prstDash val="solid"/>
          </a:ln>
          <a:effectLst>
            <a:outerShdw sx="100000" sy="100000" kx="0" ky="0" algn="bl" rotWithShape="0" blurRad="101600" dist="25400" dir="5400000">
              <a:srgbClr val="000000">
                <a:alpha val="18000"/>
              </a:srgbClr>
            </a:outerShdw>
          </a:effectLst>
        </p:spPr>
      </p:sp>
      <p:pic>
        <p:nvPicPr>
          <p:cNvPr id="5" name="captura-g-reasignar" descr="Captura de pantalla: g-reasignar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48640" y="1554480"/>
            <a:ext cx="7589520" cy="4532630"/>
          </a:xfrm>
          <a:prstGeom prst="rect">
            <a:avLst/>
          </a:prstGeom>
        </p:spPr>
      </p:pic>
      <p:sp>
        <p:nvSpPr>
          <p:cNvPr id="6" name="num-0"/>
          <p:cNvSpPr/>
          <p:nvPr/>
        </p:nvSpPr>
        <p:spPr>
          <a:xfrm>
            <a:off x="8503920" y="1618488"/>
            <a:ext cx="384048" cy="384048"/>
          </a:xfrm>
          <a:prstGeom prst="ellipse">
            <a:avLst/>
          </a:prstGeom>
          <a:solidFill>
            <a:schemeClr val="accent2"/>
          </a:solidFill>
          <a:ln/>
        </p:spPr>
      </p:sp>
      <p:sp>
        <p:nvSpPr>
          <p:cNvPr id="7" name="Text 4"/>
          <p:cNvSpPr txBox="1"/>
          <p:nvPr/>
        </p:nvSpPr>
        <p:spPr>
          <a:xfrm>
            <a:off x="8503920" y="1618488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chemeClr val="tx2"/>
                </a:solidFill>
              </a:rPr>
              <a:t>1</a:t>
            </a:r>
            <a:endParaRPr lang="en-US" sz="1400" dirty="0"/>
          </a:p>
        </p:txBody>
      </p:sp>
      <p:sp>
        <p:nvSpPr>
          <p:cNvPr id="8" name="Text 5"/>
          <p:cNvSpPr txBox="1"/>
          <p:nvPr/>
        </p:nvSpPr>
        <p:spPr>
          <a:xfrm>
            <a:off x="9034272" y="1581912"/>
            <a:ext cx="2624328" cy="14203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300"/>
              </a:spcAft>
              <a:buNone/>
            </a:pPr>
            <a:r>
              <a:rPr lang="en-US" sz="1500" b="1" dirty="0">
                <a:solidFill>
                  <a:schemeClr val="tx2"/>
                </a:solidFill>
              </a:rPr>
              <a:t>Carga visible</a:t>
            </a:r>
            <a:endParaRPr lang="en-US" sz="1500" dirty="0"/>
          </a:p>
          <a:p>
            <a:pPr indent="0" marL="0">
              <a:spcAft>
                <a:spcPts val="300"/>
              </a:spcAft>
              <a:buNone/>
            </a:pPr>
            <a:r>
              <a:rPr lang="en-US" sz="1400" dirty="0">
                <a:solidFill>
                  <a:schemeClr val="tx1"/>
                </a:solidFill>
              </a:rPr>
              <a:t>Cada abogado muestra procesos activos y tareas abiertas.</a:t>
            </a:r>
            <a:endParaRPr lang="en-US" sz="1500" dirty="0"/>
          </a:p>
        </p:txBody>
      </p:sp>
      <p:sp>
        <p:nvSpPr>
          <p:cNvPr id="9" name="num-1"/>
          <p:cNvSpPr/>
          <p:nvPr/>
        </p:nvSpPr>
        <p:spPr>
          <a:xfrm>
            <a:off x="8503920" y="3112008"/>
            <a:ext cx="384048" cy="384048"/>
          </a:xfrm>
          <a:prstGeom prst="ellipse">
            <a:avLst/>
          </a:prstGeom>
          <a:solidFill>
            <a:schemeClr val="accent2"/>
          </a:solidFill>
          <a:ln/>
        </p:spPr>
      </p:sp>
      <p:sp>
        <p:nvSpPr>
          <p:cNvPr id="10" name="Text 7"/>
          <p:cNvSpPr txBox="1"/>
          <p:nvPr/>
        </p:nvSpPr>
        <p:spPr>
          <a:xfrm>
            <a:off x="8503920" y="3112008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chemeClr val="tx2"/>
                </a:solidFill>
              </a:rPr>
              <a:t>2</a:t>
            </a:r>
            <a:endParaRPr lang="en-US" sz="1400" dirty="0"/>
          </a:p>
        </p:txBody>
      </p:sp>
      <p:sp>
        <p:nvSpPr>
          <p:cNvPr id="11" name="Text 8"/>
          <p:cNvSpPr txBox="1"/>
          <p:nvPr/>
        </p:nvSpPr>
        <p:spPr>
          <a:xfrm>
            <a:off x="9034272" y="3075432"/>
            <a:ext cx="2624328" cy="14203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300"/>
              </a:spcAft>
              <a:buNone/>
            </a:pPr>
            <a:r>
              <a:rPr lang="en-US" sz="1500" b="1" dirty="0">
                <a:solidFill>
                  <a:schemeClr val="tx2"/>
                </a:solidFill>
              </a:rPr>
              <a:t>Se conservan las tareas</a:t>
            </a:r>
            <a:endParaRPr lang="en-US" sz="1500" dirty="0"/>
          </a:p>
          <a:p>
            <a:pPr indent="0" marL="0">
              <a:spcAft>
                <a:spcPts val="300"/>
              </a:spcAft>
              <a:buNone/>
            </a:pPr>
            <a:r>
              <a:rPr lang="en-US" sz="1400" dirty="0">
                <a:solidFill>
                  <a:schemeClr val="tx1"/>
                </a:solidFill>
              </a:rPr>
              <a:t>El ciclo, los plazos y los comentarios no se pierden.</a:t>
            </a:r>
            <a:endParaRPr lang="en-US" sz="1500" dirty="0"/>
          </a:p>
        </p:txBody>
      </p:sp>
      <p:sp>
        <p:nvSpPr>
          <p:cNvPr id="12" name="num-2"/>
          <p:cNvSpPr/>
          <p:nvPr/>
        </p:nvSpPr>
        <p:spPr>
          <a:xfrm>
            <a:off x="8503920" y="4605528"/>
            <a:ext cx="384048" cy="384048"/>
          </a:xfrm>
          <a:prstGeom prst="ellipse">
            <a:avLst/>
          </a:prstGeom>
          <a:solidFill>
            <a:schemeClr val="accent2"/>
          </a:solidFill>
          <a:ln/>
        </p:spPr>
      </p:sp>
      <p:sp>
        <p:nvSpPr>
          <p:cNvPr id="13" name="Text 10"/>
          <p:cNvSpPr txBox="1"/>
          <p:nvPr/>
        </p:nvSpPr>
        <p:spPr>
          <a:xfrm>
            <a:off x="8503920" y="4605528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chemeClr val="tx2"/>
                </a:solidFill>
              </a:rPr>
              <a:t>3</a:t>
            </a:r>
            <a:endParaRPr lang="en-US" sz="1400" dirty="0"/>
          </a:p>
        </p:txBody>
      </p:sp>
      <p:sp>
        <p:nvSpPr>
          <p:cNvPr id="14" name="Text 11"/>
          <p:cNvSpPr txBox="1"/>
          <p:nvPr/>
        </p:nvSpPr>
        <p:spPr>
          <a:xfrm>
            <a:off x="9034272" y="4568952"/>
            <a:ext cx="2624328" cy="14203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300"/>
              </a:spcAft>
              <a:buNone/>
            </a:pPr>
            <a:r>
              <a:rPr lang="en-US" sz="1500" b="1" dirty="0">
                <a:solidFill>
                  <a:schemeClr val="tx2"/>
                </a:solidFill>
              </a:rPr>
              <a:t>Desde el proceso</a:t>
            </a:r>
            <a:endParaRPr lang="en-US" sz="1500" dirty="0"/>
          </a:p>
          <a:p>
            <a:pPr indent="0" marL="0">
              <a:spcAft>
                <a:spcPts val="300"/>
              </a:spcAft>
              <a:buNone/>
            </a:pPr>
            <a:r>
              <a:rPr lang="en-US" sz="1400" dirty="0">
                <a:solidFill>
                  <a:schemeClr val="tx1"/>
                </a:solidFill>
              </a:rPr>
              <a:t>Menú Acciones… › Reasignar profesional.</a:t>
            </a:r>
            <a:endParaRPr lang="en-US" sz="15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55680" y="640080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8A97AB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11</a:t>
            </a:fld>
            <a:endParaRPr lang="en-US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110642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200" b="1" dirty="0">
                <a:solidFill>
                  <a:schemeClr val="tx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Plantillas por aprobar</a:t>
            </a:r>
            <a:endParaRPr lang="en-US" sz="3200" dirty="0"/>
          </a:p>
        </p:txBody>
      </p:sp>
      <p:sp>
        <p:nvSpPr>
          <p:cNvPr id="3" name="Text 0"/>
          <p:cNvSpPr/>
          <p:nvPr>
            <p:ph idx="101" type="body" hasCustomPrompt="1"/>
          </p:nvPr>
        </p:nvSpPr>
        <p:spPr>
          <a:xfrm>
            <a:off x="548640" y="960120"/>
            <a:ext cx="110642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600" dirty="0">
                <a:solidFill>
                  <a:schemeClr val="accent6"/>
                </a:solidFill>
              </a:rPr>
              <a:t>Solo las plantillas aprobadas generan procesos</a:t>
            </a:r>
            <a:endParaRPr lang="en-US" sz="1600" dirty="0"/>
          </a:p>
        </p:txBody>
      </p:sp>
      <p:sp>
        <p:nvSpPr>
          <p:cNvPr id="4" name="marco-g-revisar"/>
          <p:cNvSpPr/>
          <p:nvPr/>
        </p:nvSpPr>
        <p:spPr>
          <a:xfrm>
            <a:off x="548640" y="1554480"/>
            <a:ext cx="7589520" cy="4532630"/>
          </a:xfrm>
          <a:prstGeom prst="rect">
            <a:avLst/>
          </a:prstGeom>
          <a:solidFill>
            <a:srgbClr val="FFFFFF"/>
          </a:solidFill>
          <a:ln w="9525">
            <a:solidFill>
              <a:srgbClr val="D5DBE5"/>
            </a:solidFill>
            <a:prstDash val="solid"/>
          </a:ln>
          <a:effectLst>
            <a:outerShdw sx="100000" sy="100000" kx="0" ky="0" algn="bl" rotWithShape="0" blurRad="101600" dist="25400" dir="5400000">
              <a:srgbClr val="000000">
                <a:alpha val="18000"/>
              </a:srgbClr>
            </a:outerShdw>
          </a:effectLst>
        </p:spPr>
      </p:sp>
      <p:pic>
        <p:nvPicPr>
          <p:cNvPr id="5" name="captura-g-revisar" descr="Captura de pantalla: g-revisar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48640" y="1554480"/>
            <a:ext cx="7589520" cy="4532630"/>
          </a:xfrm>
          <a:prstGeom prst="rect">
            <a:avLst/>
          </a:prstGeom>
        </p:spPr>
      </p:pic>
      <p:sp>
        <p:nvSpPr>
          <p:cNvPr id="6" name="num-0"/>
          <p:cNvSpPr/>
          <p:nvPr/>
        </p:nvSpPr>
        <p:spPr>
          <a:xfrm>
            <a:off x="8503920" y="1618488"/>
            <a:ext cx="384048" cy="384048"/>
          </a:xfrm>
          <a:prstGeom prst="ellipse">
            <a:avLst/>
          </a:prstGeom>
          <a:solidFill>
            <a:schemeClr val="accent2"/>
          </a:solidFill>
          <a:ln/>
        </p:spPr>
      </p:sp>
      <p:sp>
        <p:nvSpPr>
          <p:cNvPr id="7" name="Text 4"/>
          <p:cNvSpPr txBox="1"/>
          <p:nvPr/>
        </p:nvSpPr>
        <p:spPr>
          <a:xfrm>
            <a:off x="8503920" y="1618488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chemeClr val="tx2"/>
                </a:solidFill>
              </a:rPr>
              <a:t>1</a:t>
            </a:r>
            <a:endParaRPr lang="en-US" sz="1400" dirty="0"/>
          </a:p>
        </p:txBody>
      </p:sp>
      <p:sp>
        <p:nvSpPr>
          <p:cNvPr id="8" name="Text 5"/>
          <p:cNvSpPr txBox="1"/>
          <p:nvPr/>
        </p:nvSpPr>
        <p:spPr>
          <a:xfrm>
            <a:off x="9034272" y="1581912"/>
            <a:ext cx="2624328" cy="104698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300"/>
              </a:spcAft>
              <a:buNone/>
            </a:pPr>
            <a:r>
              <a:rPr lang="en-US" sz="1500" b="1" dirty="0">
                <a:solidFill>
                  <a:schemeClr val="tx2"/>
                </a:solidFill>
              </a:rPr>
              <a:t>Revisión</a:t>
            </a:r>
            <a:endParaRPr lang="en-US" sz="1500" dirty="0"/>
          </a:p>
          <a:p>
            <a:pPr indent="0" marL="0">
              <a:spcAft>
                <a:spcPts val="300"/>
              </a:spcAft>
              <a:buNone/>
            </a:pPr>
            <a:r>
              <a:rPr lang="en-US" sz="1400" dirty="0">
                <a:solidFill>
                  <a:schemeClr val="tx1"/>
                </a:solidFill>
              </a:rPr>
              <a:t>Compara la versión propuesta con la versión aprobada vigente.</a:t>
            </a:r>
            <a:endParaRPr lang="en-US" sz="1500" dirty="0"/>
          </a:p>
        </p:txBody>
      </p:sp>
      <p:sp>
        <p:nvSpPr>
          <p:cNvPr id="9" name="num-1"/>
          <p:cNvSpPr/>
          <p:nvPr/>
        </p:nvSpPr>
        <p:spPr>
          <a:xfrm>
            <a:off x="8503920" y="2738628"/>
            <a:ext cx="384048" cy="384048"/>
          </a:xfrm>
          <a:prstGeom prst="ellipse">
            <a:avLst/>
          </a:prstGeom>
          <a:solidFill>
            <a:schemeClr val="accent2"/>
          </a:solidFill>
          <a:ln/>
        </p:spPr>
      </p:sp>
      <p:sp>
        <p:nvSpPr>
          <p:cNvPr id="10" name="Text 7"/>
          <p:cNvSpPr txBox="1"/>
          <p:nvPr/>
        </p:nvSpPr>
        <p:spPr>
          <a:xfrm>
            <a:off x="8503920" y="2738628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chemeClr val="tx2"/>
                </a:solidFill>
              </a:rPr>
              <a:t>2</a:t>
            </a:r>
            <a:endParaRPr lang="en-US" sz="1400" dirty="0"/>
          </a:p>
        </p:txBody>
      </p:sp>
      <p:sp>
        <p:nvSpPr>
          <p:cNvPr id="11" name="Text 8"/>
          <p:cNvSpPr txBox="1"/>
          <p:nvPr/>
        </p:nvSpPr>
        <p:spPr>
          <a:xfrm>
            <a:off x="9034272" y="2702052"/>
            <a:ext cx="2624328" cy="104698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300"/>
              </a:spcAft>
              <a:buNone/>
            </a:pPr>
            <a:r>
              <a:rPr lang="en-US" sz="1500" b="1" dirty="0">
                <a:solidFill>
                  <a:schemeClr val="tx2"/>
                </a:solidFill>
              </a:rPr>
              <a:t>Aprobar</a:t>
            </a:r>
            <a:endParaRPr lang="en-US" sz="1500" dirty="0"/>
          </a:p>
          <a:p>
            <a:pPr indent="0" marL="0">
              <a:spcAft>
                <a:spcPts val="300"/>
              </a:spcAft>
              <a:buNone/>
            </a:pPr>
            <a:r>
              <a:rPr lang="en-US" sz="1400" dirty="0">
                <a:solidFill>
                  <a:schemeClr val="tx1"/>
                </a:solidFill>
              </a:rPr>
              <a:t>La vía queda disponible en el portal y en la extensión.</a:t>
            </a:r>
            <a:endParaRPr lang="en-US" sz="1500" dirty="0"/>
          </a:p>
        </p:txBody>
      </p:sp>
      <p:sp>
        <p:nvSpPr>
          <p:cNvPr id="12" name="num-2"/>
          <p:cNvSpPr/>
          <p:nvPr/>
        </p:nvSpPr>
        <p:spPr>
          <a:xfrm>
            <a:off x="8503920" y="3858768"/>
            <a:ext cx="384048" cy="384048"/>
          </a:xfrm>
          <a:prstGeom prst="ellipse">
            <a:avLst/>
          </a:prstGeom>
          <a:solidFill>
            <a:schemeClr val="accent2"/>
          </a:solidFill>
          <a:ln/>
        </p:spPr>
      </p:sp>
      <p:sp>
        <p:nvSpPr>
          <p:cNvPr id="13" name="Text 10"/>
          <p:cNvSpPr txBox="1"/>
          <p:nvPr/>
        </p:nvSpPr>
        <p:spPr>
          <a:xfrm>
            <a:off x="8503920" y="3858768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chemeClr val="tx2"/>
                </a:solidFill>
              </a:rPr>
              <a:t>3</a:t>
            </a:r>
            <a:endParaRPr lang="en-US" sz="1400" dirty="0"/>
          </a:p>
        </p:txBody>
      </p:sp>
      <p:sp>
        <p:nvSpPr>
          <p:cNvPr id="14" name="Text 11"/>
          <p:cNvSpPr txBox="1"/>
          <p:nvPr/>
        </p:nvSpPr>
        <p:spPr>
          <a:xfrm>
            <a:off x="9034272" y="3822192"/>
            <a:ext cx="2624328" cy="104698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300"/>
              </a:spcAft>
              <a:buNone/>
            </a:pPr>
            <a:r>
              <a:rPr lang="en-US" sz="1500" b="1" dirty="0">
                <a:solidFill>
                  <a:schemeClr val="tx2"/>
                </a:solidFill>
              </a:rPr>
              <a:t>Observar</a:t>
            </a:r>
            <a:endParaRPr lang="en-US" sz="1500" dirty="0"/>
          </a:p>
          <a:p>
            <a:pPr indent="0" marL="0">
              <a:spcAft>
                <a:spcPts val="300"/>
              </a:spcAft>
              <a:buNone/>
            </a:pPr>
            <a:r>
              <a:rPr lang="en-US" sz="1400" dirty="0">
                <a:solidFill>
                  <a:schemeClr val="tx1"/>
                </a:solidFill>
              </a:rPr>
              <a:t>Con comentario obligatorio; el abogado recibe la alerta.</a:t>
            </a:r>
            <a:endParaRPr lang="en-US" sz="1500" dirty="0"/>
          </a:p>
        </p:txBody>
      </p:sp>
      <p:sp>
        <p:nvSpPr>
          <p:cNvPr id="15" name="num-3"/>
          <p:cNvSpPr/>
          <p:nvPr/>
        </p:nvSpPr>
        <p:spPr>
          <a:xfrm>
            <a:off x="8503920" y="4978908"/>
            <a:ext cx="384048" cy="384048"/>
          </a:xfrm>
          <a:prstGeom prst="ellipse">
            <a:avLst/>
          </a:prstGeom>
          <a:solidFill>
            <a:schemeClr val="accent2"/>
          </a:solidFill>
          <a:ln/>
        </p:spPr>
      </p:sp>
      <p:sp>
        <p:nvSpPr>
          <p:cNvPr id="16" name="Text 13"/>
          <p:cNvSpPr txBox="1"/>
          <p:nvPr/>
        </p:nvSpPr>
        <p:spPr>
          <a:xfrm>
            <a:off x="8503920" y="4978908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chemeClr val="tx2"/>
                </a:solidFill>
              </a:rPr>
              <a:t>4</a:t>
            </a:r>
            <a:endParaRPr lang="en-US" sz="1400" dirty="0"/>
          </a:p>
        </p:txBody>
      </p:sp>
      <p:sp>
        <p:nvSpPr>
          <p:cNvPr id="17" name="Text 14"/>
          <p:cNvSpPr txBox="1"/>
          <p:nvPr/>
        </p:nvSpPr>
        <p:spPr>
          <a:xfrm>
            <a:off x="9034272" y="4942332"/>
            <a:ext cx="2624328" cy="104698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300"/>
              </a:spcAft>
              <a:buNone/>
            </a:pPr>
            <a:r>
              <a:rPr lang="en-US" sz="1500" b="1" dirty="0">
                <a:solidFill>
                  <a:schemeClr val="tx2"/>
                </a:solidFill>
              </a:rPr>
              <a:t>Sin interrupción</a:t>
            </a:r>
            <a:endParaRPr lang="en-US" sz="1500" dirty="0"/>
          </a:p>
          <a:p>
            <a:pPr indent="0" marL="0">
              <a:spcAft>
                <a:spcPts val="300"/>
              </a:spcAft>
              <a:buNone/>
            </a:pPr>
            <a:r>
              <a:rPr lang="en-US" sz="1400" dirty="0">
                <a:solidFill>
                  <a:schemeClr val="tx1"/>
                </a:solidFill>
              </a:rPr>
              <a:t>Mientras revisa, los procesos usan la última versión aprobada.</a:t>
            </a:r>
            <a:endParaRPr lang="en-US" sz="15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55680" y="640080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8A97AB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12</a:t>
            </a:fld>
            <a:endParaRPr lang="en-US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110642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200" b="1" dirty="0">
                <a:solidFill>
                  <a:schemeClr val="tx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Alertas de la Gerencia</a:t>
            </a:r>
            <a:endParaRPr lang="en-US" sz="3200" dirty="0"/>
          </a:p>
        </p:txBody>
      </p:sp>
      <p:sp>
        <p:nvSpPr>
          <p:cNvPr id="3" name="Text 0"/>
          <p:cNvSpPr/>
          <p:nvPr>
            <p:ph idx="101" type="body" hasCustomPrompt="1"/>
          </p:nvPr>
        </p:nvSpPr>
        <p:spPr>
          <a:xfrm>
            <a:off x="548640" y="960120"/>
            <a:ext cx="110642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600" dirty="0">
                <a:solidFill>
                  <a:schemeClr val="accent6"/>
                </a:solidFill>
              </a:rPr>
              <a:t>Calculadas en el servidor con las reglas institucionales</a:t>
            </a:r>
            <a:endParaRPr lang="en-US" sz="1600" dirty="0"/>
          </a:p>
        </p:txBody>
      </p:sp>
      <p:sp>
        <p:nvSpPr>
          <p:cNvPr id="4" name="marco-g-alertas"/>
          <p:cNvSpPr/>
          <p:nvPr/>
        </p:nvSpPr>
        <p:spPr>
          <a:xfrm>
            <a:off x="548640" y="1554480"/>
            <a:ext cx="7589520" cy="4532630"/>
          </a:xfrm>
          <a:prstGeom prst="rect">
            <a:avLst/>
          </a:prstGeom>
          <a:solidFill>
            <a:srgbClr val="FFFFFF"/>
          </a:solidFill>
          <a:ln w="9525">
            <a:solidFill>
              <a:srgbClr val="D5DBE5"/>
            </a:solidFill>
            <a:prstDash val="solid"/>
          </a:ln>
          <a:effectLst>
            <a:outerShdw sx="100000" sy="100000" kx="0" ky="0" algn="bl" rotWithShape="0" blurRad="101600" dist="25400" dir="5400000">
              <a:srgbClr val="000000">
                <a:alpha val="18000"/>
              </a:srgbClr>
            </a:outerShdw>
          </a:effectLst>
        </p:spPr>
      </p:sp>
      <p:pic>
        <p:nvPicPr>
          <p:cNvPr id="5" name="captura-g-alertas" descr="Captura de pantalla: g-alertas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48640" y="1554480"/>
            <a:ext cx="7589520" cy="4532630"/>
          </a:xfrm>
          <a:prstGeom prst="rect">
            <a:avLst/>
          </a:prstGeom>
        </p:spPr>
      </p:pic>
      <p:sp>
        <p:nvSpPr>
          <p:cNvPr id="6" name="num-0"/>
          <p:cNvSpPr/>
          <p:nvPr/>
        </p:nvSpPr>
        <p:spPr>
          <a:xfrm>
            <a:off x="8503920" y="1618488"/>
            <a:ext cx="384048" cy="384048"/>
          </a:xfrm>
          <a:prstGeom prst="ellipse">
            <a:avLst/>
          </a:prstGeom>
          <a:solidFill>
            <a:schemeClr val="accent2"/>
          </a:solidFill>
          <a:ln/>
        </p:spPr>
      </p:sp>
      <p:sp>
        <p:nvSpPr>
          <p:cNvPr id="7" name="Text 4"/>
          <p:cNvSpPr txBox="1"/>
          <p:nvPr/>
        </p:nvSpPr>
        <p:spPr>
          <a:xfrm>
            <a:off x="8503920" y="1618488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chemeClr val="tx2"/>
                </a:solidFill>
              </a:rPr>
              <a:t>1</a:t>
            </a:r>
            <a:endParaRPr lang="en-US" sz="1400" dirty="0"/>
          </a:p>
        </p:txBody>
      </p:sp>
      <p:sp>
        <p:nvSpPr>
          <p:cNvPr id="8" name="Text 5"/>
          <p:cNvSpPr txBox="1"/>
          <p:nvPr/>
        </p:nvSpPr>
        <p:spPr>
          <a:xfrm>
            <a:off x="9034272" y="1581912"/>
            <a:ext cx="2624328" cy="104698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300"/>
              </a:spcAft>
              <a:buNone/>
            </a:pPr>
            <a:r>
              <a:rPr lang="en-US" sz="1500" b="1" dirty="0">
                <a:solidFill>
                  <a:schemeClr val="tx2"/>
                </a:solidFill>
              </a:rPr>
              <a:t>Filtro por tipo</a:t>
            </a:r>
            <a:endParaRPr lang="en-US" sz="1500" dirty="0"/>
          </a:p>
          <a:p>
            <a:pPr indent="0" marL="0">
              <a:spcAft>
                <a:spcPts val="300"/>
              </a:spcAft>
              <a:buNone/>
            </a:pPr>
            <a:r>
              <a:rPr lang="en-US" sz="1400" dirty="0">
                <a:solidFill>
                  <a:schemeClr val="tx1"/>
                </a:solidFill>
              </a:rPr>
              <a:t>Vencidas, por vencer, sin plazo, carga crítica, plantillas…</a:t>
            </a:r>
            <a:endParaRPr lang="en-US" sz="1500" dirty="0"/>
          </a:p>
        </p:txBody>
      </p:sp>
      <p:sp>
        <p:nvSpPr>
          <p:cNvPr id="9" name="num-1"/>
          <p:cNvSpPr/>
          <p:nvPr/>
        </p:nvSpPr>
        <p:spPr>
          <a:xfrm>
            <a:off x="8503920" y="2738628"/>
            <a:ext cx="384048" cy="384048"/>
          </a:xfrm>
          <a:prstGeom prst="ellipse">
            <a:avLst/>
          </a:prstGeom>
          <a:solidFill>
            <a:schemeClr val="accent2"/>
          </a:solidFill>
          <a:ln/>
        </p:spPr>
      </p:sp>
      <p:sp>
        <p:nvSpPr>
          <p:cNvPr id="10" name="Text 7"/>
          <p:cNvSpPr txBox="1"/>
          <p:nvPr/>
        </p:nvSpPr>
        <p:spPr>
          <a:xfrm>
            <a:off x="8503920" y="2738628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chemeClr val="tx2"/>
                </a:solidFill>
              </a:rPr>
              <a:t>2</a:t>
            </a:r>
            <a:endParaRPr lang="en-US" sz="1400" dirty="0"/>
          </a:p>
        </p:txBody>
      </p:sp>
      <p:sp>
        <p:nvSpPr>
          <p:cNvPr id="11" name="Text 8"/>
          <p:cNvSpPr txBox="1"/>
          <p:nvPr/>
        </p:nvSpPr>
        <p:spPr>
          <a:xfrm>
            <a:off x="9034272" y="2702052"/>
            <a:ext cx="2624328" cy="104698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300"/>
              </a:spcAft>
              <a:buNone/>
            </a:pPr>
            <a:r>
              <a:rPr lang="en-US" sz="1500" b="1" dirty="0">
                <a:solidFill>
                  <a:schemeClr val="tx2"/>
                </a:solidFill>
              </a:rPr>
              <a:t>Solicitar plazo</a:t>
            </a:r>
            <a:endParaRPr lang="en-US" sz="1500" dirty="0"/>
          </a:p>
          <a:p>
            <a:pPr indent="0" marL="0">
              <a:spcAft>
                <a:spcPts val="300"/>
              </a:spcAft>
              <a:buNone/>
            </a:pPr>
            <a:r>
              <a:rPr lang="en-US" sz="1400" dirty="0">
                <a:solidFill>
                  <a:schemeClr val="tx1"/>
                </a:solidFill>
              </a:rPr>
              <a:t>Pide al abogado que defina un plazo; se cierra sola al definirlo.</a:t>
            </a:r>
            <a:endParaRPr lang="en-US" sz="1500" dirty="0"/>
          </a:p>
        </p:txBody>
      </p:sp>
      <p:sp>
        <p:nvSpPr>
          <p:cNvPr id="12" name="num-2"/>
          <p:cNvSpPr/>
          <p:nvPr/>
        </p:nvSpPr>
        <p:spPr>
          <a:xfrm>
            <a:off x="8503920" y="3858768"/>
            <a:ext cx="384048" cy="384048"/>
          </a:xfrm>
          <a:prstGeom prst="ellipse">
            <a:avLst/>
          </a:prstGeom>
          <a:solidFill>
            <a:schemeClr val="accent2"/>
          </a:solidFill>
          <a:ln/>
        </p:spPr>
      </p:sp>
      <p:sp>
        <p:nvSpPr>
          <p:cNvPr id="13" name="Text 10"/>
          <p:cNvSpPr txBox="1"/>
          <p:nvPr/>
        </p:nvSpPr>
        <p:spPr>
          <a:xfrm>
            <a:off x="8503920" y="3858768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chemeClr val="tx2"/>
                </a:solidFill>
              </a:rPr>
              <a:t>3</a:t>
            </a:r>
            <a:endParaRPr lang="en-US" sz="1400" dirty="0"/>
          </a:p>
        </p:txBody>
      </p:sp>
      <p:sp>
        <p:nvSpPr>
          <p:cNvPr id="14" name="Text 11"/>
          <p:cNvSpPr txBox="1"/>
          <p:nvPr/>
        </p:nvSpPr>
        <p:spPr>
          <a:xfrm>
            <a:off x="9034272" y="3822192"/>
            <a:ext cx="2624328" cy="104698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300"/>
              </a:spcAft>
              <a:buNone/>
            </a:pPr>
            <a:r>
              <a:rPr lang="en-US" sz="1500" b="1" dirty="0">
                <a:solidFill>
                  <a:schemeClr val="tx2"/>
                </a:solidFill>
              </a:rPr>
              <a:t>Retroceso de tarea</a:t>
            </a:r>
            <a:endParaRPr lang="en-US" sz="1500" dirty="0"/>
          </a:p>
          <a:p>
            <a:pPr indent="0" marL="0">
              <a:spcAft>
                <a:spcPts val="300"/>
              </a:spcAft>
              <a:buNone/>
            </a:pPr>
            <a:r>
              <a:rPr lang="en-US" sz="1400" dirty="0">
                <a:solidFill>
                  <a:schemeClr val="tx1"/>
                </a:solidFill>
              </a:rPr>
              <a:t>Muestra la justificación; queda hasta marcar «✓ Visto».</a:t>
            </a:r>
            <a:endParaRPr lang="en-US" sz="1500" dirty="0"/>
          </a:p>
        </p:txBody>
      </p:sp>
      <p:sp>
        <p:nvSpPr>
          <p:cNvPr id="15" name="num-3"/>
          <p:cNvSpPr/>
          <p:nvPr/>
        </p:nvSpPr>
        <p:spPr>
          <a:xfrm>
            <a:off x="8503920" y="4978908"/>
            <a:ext cx="384048" cy="384048"/>
          </a:xfrm>
          <a:prstGeom prst="ellipse">
            <a:avLst/>
          </a:prstGeom>
          <a:solidFill>
            <a:schemeClr val="accent2"/>
          </a:solidFill>
          <a:ln/>
        </p:spPr>
      </p:sp>
      <p:sp>
        <p:nvSpPr>
          <p:cNvPr id="16" name="Text 13"/>
          <p:cNvSpPr txBox="1"/>
          <p:nvPr/>
        </p:nvSpPr>
        <p:spPr>
          <a:xfrm>
            <a:off x="8503920" y="4978908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chemeClr val="tx2"/>
                </a:solidFill>
              </a:rPr>
              <a:t>4</a:t>
            </a:r>
            <a:endParaRPr lang="en-US" sz="1400" dirty="0"/>
          </a:p>
        </p:txBody>
      </p:sp>
      <p:sp>
        <p:nvSpPr>
          <p:cNvPr id="17" name="Text 14"/>
          <p:cNvSpPr txBox="1"/>
          <p:nvPr/>
        </p:nvSpPr>
        <p:spPr>
          <a:xfrm>
            <a:off x="9034272" y="4942332"/>
            <a:ext cx="2624328" cy="104698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300"/>
              </a:spcAft>
              <a:buNone/>
            </a:pPr>
            <a:r>
              <a:rPr lang="en-US" sz="1500" b="1" dirty="0">
                <a:solidFill>
                  <a:schemeClr val="tx2"/>
                </a:solidFill>
              </a:rPr>
              <a:t>Carga crítica</a:t>
            </a:r>
            <a:endParaRPr lang="en-US" sz="1500" dirty="0"/>
          </a:p>
          <a:p>
            <a:pPr indent="0" marL="0">
              <a:spcAft>
                <a:spcPts val="300"/>
              </a:spcAft>
              <a:buNone/>
            </a:pPr>
            <a:r>
              <a:rPr lang="en-US" sz="1400" dirty="0">
                <a:solidFill>
                  <a:schemeClr val="tx1"/>
                </a:solidFill>
              </a:rPr>
              <a:t>Abogado con ≥ 20 % de sus tareas abiertas vencidas.</a:t>
            </a:r>
            <a:endParaRPr lang="en-US" sz="15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55680" y="640080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8A97AB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13</a:t>
            </a:fld>
            <a:endParaRPr lang="en-US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110642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200" b="1" dirty="0">
                <a:solidFill>
                  <a:schemeClr val="tx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Trámites SGD indexados</a:t>
            </a:r>
            <a:endParaRPr lang="en-US" sz="3200" dirty="0"/>
          </a:p>
        </p:txBody>
      </p:sp>
      <p:sp>
        <p:nvSpPr>
          <p:cNvPr id="3" name="Text 0"/>
          <p:cNvSpPr/>
          <p:nvPr>
            <p:ph idx="101" type="body" hasCustomPrompt="1"/>
          </p:nvPr>
        </p:nvSpPr>
        <p:spPr>
          <a:xfrm>
            <a:off x="548640" y="960120"/>
            <a:ext cx="110642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600" dirty="0">
                <a:solidFill>
                  <a:schemeClr val="accent6"/>
                </a:solidFill>
              </a:rPr>
              <a:t>Trazabilidad de los documentos vinculados desde el Conector SGD</a:t>
            </a:r>
            <a:endParaRPr lang="en-US" sz="1600" dirty="0"/>
          </a:p>
        </p:txBody>
      </p:sp>
      <p:sp>
        <p:nvSpPr>
          <p:cNvPr id="4" name="marco-g-tramites"/>
          <p:cNvSpPr/>
          <p:nvPr/>
        </p:nvSpPr>
        <p:spPr>
          <a:xfrm>
            <a:off x="548640" y="1554480"/>
            <a:ext cx="7589520" cy="4532630"/>
          </a:xfrm>
          <a:prstGeom prst="rect">
            <a:avLst/>
          </a:prstGeom>
          <a:solidFill>
            <a:srgbClr val="FFFFFF"/>
          </a:solidFill>
          <a:ln w="9525">
            <a:solidFill>
              <a:srgbClr val="D5DBE5"/>
            </a:solidFill>
            <a:prstDash val="solid"/>
          </a:ln>
          <a:effectLst>
            <a:outerShdw sx="100000" sy="100000" kx="0" ky="0" algn="bl" rotWithShape="0" blurRad="101600" dist="25400" dir="5400000">
              <a:srgbClr val="000000">
                <a:alpha val="18000"/>
              </a:srgbClr>
            </a:outerShdw>
          </a:effectLst>
        </p:spPr>
      </p:sp>
      <p:pic>
        <p:nvPicPr>
          <p:cNvPr id="5" name="captura-g-tramites" descr="Captura de pantalla: g-tramites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48640" y="1554480"/>
            <a:ext cx="7589520" cy="4532630"/>
          </a:xfrm>
          <a:prstGeom prst="rect">
            <a:avLst/>
          </a:prstGeom>
        </p:spPr>
      </p:pic>
      <p:sp>
        <p:nvSpPr>
          <p:cNvPr id="6" name="num-0"/>
          <p:cNvSpPr/>
          <p:nvPr/>
        </p:nvSpPr>
        <p:spPr>
          <a:xfrm>
            <a:off x="8503920" y="1618488"/>
            <a:ext cx="384048" cy="384048"/>
          </a:xfrm>
          <a:prstGeom prst="ellipse">
            <a:avLst/>
          </a:prstGeom>
          <a:solidFill>
            <a:schemeClr val="accent2"/>
          </a:solidFill>
          <a:ln/>
        </p:spPr>
      </p:sp>
      <p:sp>
        <p:nvSpPr>
          <p:cNvPr id="7" name="Text 4"/>
          <p:cNvSpPr txBox="1"/>
          <p:nvPr/>
        </p:nvSpPr>
        <p:spPr>
          <a:xfrm>
            <a:off x="8503920" y="1618488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chemeClr val="tx2"/>
                </a:solidFill>
              </a:rPr>
              <a:t>1</a:t>
            </a:r>
            <a:endParaRPr lang="en-US" sz="1400" dirty="0"/>
          </a:p>
        </p:txBody>
      </p:sp>
      <p:sp>
        <p:nvSpPr>
          <p:cNvPr id="8" name="Text 5"/>
          <p:cNvSpPr txBox="1"/>
          <p:nvPr/>
        </p:nvSpPr>
        <p:spPr>
          <a:xfrm>
            <a:off x="9034272" y="1581912"/>
            <a:ext cx="2624328" cy="14203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300"/>
              </a:spcAft>
              <a:buNone/>
            </a:pPr>
            <a:r>
              <a:rPr lang="en-US" sz="1500" b="1" dirty="0">
                <a:solidFill>
                  <a:schemeClr val="tx2"/>
                </a:solidFill>
              </a:rPr>
              <a:t>Registro completo</a:t>
            </a:r>
            <a:endParaRPr lang="en-US" sz="1500" dirty="0"/>
          </a:p>
          <a:p>
            <a:pPr indent="0" marL="0">
              <a:spcAft>
                <a:spcPts val="300"/>
              </a:spcAft>
              <a:buNone/>
            </a:pPr>
            <a:r>
              <a:rPr lang="en-US" sz="1400" dirty="0">
                <a:solidFill>
                  <a:schemeClr val="tx1"/>
                </a:solidFill>
              </a:rPr>
              <a:t>N.º de trámite, asunto, detalle, proceso y tarea relacionada.</a:t>
            </a:r>
            <a:endParaRPr lang="en-US" sz="1500" dirty="0"/>
          </a:p>
        </p:txBody>
      </p:sp>
      <p:sp>
        <p:nvSpPr>
          <p:cNvPr id="9" name="num-1"/>
          <p:cNvSpPr/>
          <p:nvPr/>
        </p:nvSpPr>
        <p:spPr>
          <a:xfrm>
            <a:off x="8503920" y="3112008"/>
            <a:ext cx="384048" cy="384048"/>
          </a:xfrm>
          <a:prstGeom prst="ellipse">
            <a:avLst/>
          </a:prstGeom>
          <a:solidFill>
            <a:schemeClr val="accent2"/>
          </a:solidFill>
          <a:ln/>
        </p:spPr>
      </p:sp>
      <p:sp>
        <p:nvSpPr>
          <p:cNvPr id="10" name="Text 7"/>
          <p:cNvSpPr txBox="1"/>
          <p:nvPr/>
        </p:nvSpPr>
        <p:spPr>
          <a:xfrm>
            <a:off x="8503920" y="3112008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chemeClr val="tx2"/>
                </a:solidFill>
              </a:rPr>
              <a:t>2</a:t>
            </a:r>
            <a:endParaRPr lang="en-US" sz="1400" dirty="0"/>
          </a:p>
        </p:txBody>
      </p:sp>
      <p:sp>
        <p:nvSpPr>
          <p:cNvPr id="11" name="Text 8"/>
          <p:cNvSpPr txBox="1"/>
          <p:nvPr/>
        </p:nvSpPr>
        <p:spPr>
          <a:xfrm>
            <a:off x="9034272" y="3075432"/>
            <a:ext cx="2624328" cy="14203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300"/>
              </a:spcAft>
              <a:buNone/>
            </a:pPr>
            <a:r>
              <a:rPr lang="en-US" sz="1500" b="1" dirty="0">
                <a:solidFill>
                  <a:schemeClr val="tx2"/>
                </a:solidFill>
              </a:rPr>
              <a:t>Quién y cuándo</a:t>
            </a:r>
            <a:endParaRPr lang="en-US" sz="1500" dirty="0"/>
          </a:p>
          <a:p>
            <a:pPr indent="0" marL="0">
              <a:spcAft>
                <a:spcPts val="300"/>
              </a:spcAft>
              <a:buNone/>
            </a:pPr>
            <a:r>
              <a:rPr lang="en-US" sz="1400" dirty="0">
                <a:solidFill>
                  <a:schemeClr val="tx1"/>
                </a:solidFill>
              </a:rPr>
              <a:t>Usuario que indexó, fecha de ingreso al SGD y de indexación.</a:t>
            </a:r>
            <a:endParaRPr lang="en-US" sz="1500" dirty="0"/>
          </a:p>
        </p:txBody>
      </p:sp>
      <p:sp>
        <p:nvSpPr>
          <p:cNvPr id="12" name="num-2"/>
          <p:cNvSpPr/>
          <p:nvPr/>
        </p:nvSpPr>
        <p:spPr>
          <a:xfrm>
            <a:off x="8503920" y="4605528"/>
            <a:ext cx="384048" cy="384048"/>
          </a:xfrm>
          <a:prstGeom prst="ellipse">
            <a:avLst/>
          </a:prstGeom>
          <a:solidFill>
            <a:schemeClr val="accent2"/>
          </a:solidFill>
          <a:ln/>
        </p:spPr>
      </p:sp>
      <p:sp>
        <p:nvSpPr>
          <p:cNvPr id="13" name="Text 10"/>
          <p:cNvSpPr txBox="1"/>
          <p:nvPr/>
        </p:nvSpPr>
        <p:spPr>
          <a:xfrm>
            <a:off x="8503920" y="4605528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chemeClr val="tx2"/>
                </a:solidFill>
              </a:rPr>
              <a:t>3</a:t>
            </a:r>
            <a:endParaRPr lang="en-US" sz="1400" dirty="0"/>
          </a:p>
        </p:txBody>
      </p:sp>
      <p:sp>
        <p:nvSpPr>
          <p:cNvPr id="14" name="Text 11"/>
          <p:cNvSpPr txBox="1"/>
          <p:nvPr/>
        </p:nvSpPr>
        <p:spPr>
          <a:xfrm>
            <a:off x="9034272" y="4568952"/>
            <a:ext cx="2624328" cy="14203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300"/>
              </a:spcAft>
              <a:buNone/>
            </a:pPr>
            <a:r>
              <a:rPr lang="en-US" sz="1500" b="1" dirty="0">
                <a:solidFill>
                  <a:schemeClr val="tx2"/>
                </a:solidFill>
              </a:rPr>
              <a:t>Enlace al SGD</a:t>
            </a:r>
            <a:endParaRPr lang="en-US" sz="1500" dirty="0"/>
          </a:p>
          <a:p>
            <a:pPr indent="0" marL="0">
              <a:spcAft>
                <a:spcPts val="300"/>
              </a:spcAft>
              <a:buNone/>
            </a:pPr>
            <a:r>
              <a:rPr lang="en-US" sz="1400" dirty="0">
                <a:solidFill>
                  <a:schemeClr val="tx1"/>
                </a:solidFill>
              </a:rPr>
              <a:t>Abre el trámite original directamente.</a:t>
            </a:r>
            <a:endParaRPr lang="en-US" sz="15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55680" y="640080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8A97AB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14</a:t>
            </a:fld>
            <a:endParaRPr lang="en-US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731520" y="1463040"/>
            <a:ext cx="585216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algn="l" indent="0" marL="0">
              <a:buNone/>
            </a:pPr>
            <a:r>
              <a:rPr lang="en-US" sz="4400" b="1" dirty="0">
                <a:solidFill>
                  <a:schemeClr val="bg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Profesional (abogado)</a:t>
            </a:r>
            <a:endParaRPr lang="en-US" sz="4400" dirty="0"/>
          </a:p>
        </p:txBody>
      </p:sp>
      <p:sp>
        <p:nvSpPr>
          <p:cNvPr id="3" name="Text 0"/>
          <p:cNvSpPr/>
          <p:nvPr>
            <p:ph idx="101" type="body" hasCustomPrompt="1"/>
          </p:nvPr>
        </p:nvSpPr>
        <p:spPr>
          <a:xfrm>
            <a:off x="731520" y="2788920"/>
            <a:ext cx="548640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800" dirty="0">
                <a:solidFill>
                  <a:srgbClr val="CADCFC"/>
                </a:solidFill>
              </a:rPr>
              <a:t>Conducción diaria de sus procesos, tareas y plazos</a:t>
            </a:r>
            <a:endParaRPr lang="en-US" sz="1800" dirty="0"/>
          </a:p>
        </p:txBody>
      </p:sp>
      <p:sp>
        <p:nvSpPr>
          <p:cNvPr id="4" name="modulo-p-0"/>
          <p:cNvSpPr/>
          <p:nvPr/>
        </p:nvSpPr>
        <p:spPr>
          <a:xfrm>
            <a:off x="7406640" y="685800"/>
            <a:ext cx="4206240" cy="621792"/>
          </a:xfrm>
          <a:prstGeom prst="roundRect">
            <a:avLst>
              <a:gd name="adj" fmla="val 14706"/>
            </a:avLst>
          </a:prstGeom>
          <a:solidFill>
            <a:srgbClr val="1F4275"/>
          </a:solidFill>
          <a:ln/>
        </p:spPr>
      </p:sp>
      <p:pic>
        <p:nvPicPr>
          <p:cNvPr id="5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635240" y="822960"/>
            <a:ext cx="347472" cy="347472"/>
          </a:xfrm>
          <a:prstGeom prst="rect">
            <a:avLst/>
          </a:prstGeom>
        </p:spPr>
      </p:pic>
      <p:sp>
        <p:nvSpPr>
          <p:cNvPr id="6" name="Text 3"/>
          <p:cNvSpPr txBox="1"/>
          <p:nvPr/>
        </p:nvSpPr>
        <p:spPr>
          <a:xfrm>
            <a:off x="8229600" y="685800"/>
            <a:ext cx="329184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dirty="0">
                <a:solidFill>
                  <a:srgbClr val="FFFFFF"/>
                </a:solidFill>
              </a:rPr>
              <a:t>Mi panel</a:t>
            </a:r>
            <a:endParaRPr lang="en-US" sz="1700" dirty="0"/>
          </a:p>
        </p:txBody>
      </p:sp>
      <p:sp>
        <p:nvSpPr>
          <p:cNvPr id="7" name="modulo-p-1"/>
          <p:cNvSpPr/>
          <p:nvPr/>
        </p:nvSpPr>
        <p:spPr>
          <a:xfrm>
            <a:off x="7406640" y="1463040"/>
            <a:ext cx="4206240" cy="621792"/>
          </a:xfrm>
          <a:prstGeom prst="roundRect">
            <a:avLst>
              <a:gd name="adj" fmla="val 14706"/>
            </a:avLst>
          </a:prstGeom>
          <a:solidFill>
            <a:srgbClr val="1F4275"/>
          </a:solidFill>
          <a:ln/>
        </p:spPr>
      </p:sp>
      <p:pic>
        <p:nvPicPr>
          <p:cNvPr id="8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635240" y="1600200"/>
            <a:ext cx="347472" cy="347472"/>
          </a:xfrm>
          <a:prstGeom prst="rect">
            <a:avLst/>
          </a:prstGeom>
        </p:spPr>
      </p:pic>
      <p:sp>
        <p:nvSpPr>
          <p:cNvPr id="9" name="Text 5"/>
          <p:cNvSpPr txBox="1"/>
          <p:nvPr/>
        </p:nvSpPr>
        <p:spPr>
          <a:xfrm>
            <a:off x="8229600" y="1463040"/>
            <a:ext cx="329184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dirty="0">
                <a:solidFill>
                  <a:srgbClr val="FFFFFF"/>
                </a:solidFill>
              </a:rPr>
              <a:t>Mis procesos</a:t>
            </a:r>
            <a:endParaRPr lang="en-US" sz="1700" dirty="0"/>
          </a:p>
        </p:txBody>
      </p:sp>
      <p:sp>
        <p:nvSpPr>
          <p:cNvPr id="10" name="modulo-p-2"/>
          <p:cNvSpPr/>
          <p:nvPr/>
        </p:nvSpPr>
        <p:spPr>
          <a:xfrm>
            <a:off x="7406640" y="2240280"/>
            <a:ext cx="4206240" cy="621792"/>
          </a:xfrm>
          <a:prstGeom prst="roundRect">
            <a:avLst>
              <a:gd name="adj" fmla="val 14706"/>
            </a:avLst>
          </a:prstGeom>
          <a:solidFill>
            <a:srgbClr val="1F4275"/>
          </a:solidFill>
          <a:ln/>
        </p:spPr>
      </p:sp>
      <p:pic>
        <p:nvPicPr>
          <p:cNvPr id="11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635240" y="2377440"/>
            <a:ext cx="347472" cy="347472"/>
          </a:xfrm>
          <a:prstGeom prst="rect">
            <a:avLst/>
          </a:prstGeom>
        </p:spPr>
      </p:pic>
      <p:sp>
        <p:nvSpPr>
          <p:cNvPr id="12" name="Text 7"/>
          <p:cNvSpPr txBox="1"/>
          <p:nvPr/>
        </p:nvSpPr>
        <p:spPr>
          <a:xfrm>
            <a:off x="8229600" y="2240280"/>
            <a:ext cx="329184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dirty="0">
                <a:solidFill>
                  <a:srgbClr val="FFFFFF"/>
                </a:solidFill>
              </a:rPr>
              <a:t>Mis tareas</a:t>
            </a:r>
            <a:endParaRPr lang="en-US" sz="1700" dirty="0"/>
          </a:p>
        </p:txBody>
      </p:sp>
      <p:sp>
        <p:nvSpPr>
          <p:cNvPr id="13" name="modulo-p-3"/>
          <p:cNvSpPr/>
          <p:nvPr/>
        </p:nvSpPr>
        <p:spPr>
          <a:xfrm>
            <a:off x="7406640" y="3017520"/>
            <a:ext cx="4206240" cy="621792"/>
          </a:xfrm>
          <a:prstGeom prst="roundRect">
            <a:avLst>
              <a:gd name="adj" fmla="val 14706"/>
            </a:avLst>
          </a:prstGeom>
          <a:solidFill>
            <a:srgbClr val="1F4275"/>
          </a:solidFill>
          <a:ln/>
        </p:spPr>
      </p:sp>
      <p:pic>
        <p:nvPicPr>
          <p:cNvPr id="14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635240" y="3154680"/>
            <a:ext cx="347472" cy="347472"/>
          </a:xfrm>
          <a:prstGeom prst="rect">
            <a:avLst/>
          </a:prstGeom>
        </p:spPr>
      </p:pic>
      <p:sp>
        <p:nvSpPr>
          <p:cNvPr id="15" name="Text 9"/>
          <p:cNvSpPr txBox="1"/>
          <p:nvPr/>
        </p:nvSpPr>
        <p:spPr>
          <a:xfrm>
            <a:off x="8229600" y="3017520"/>
            <a:ext cx="329184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dirty="0">
                <a:solidFill>
                  <a:srgbClr val="FFFFFF"/>
                </a:solidFill>
              </a:rPr>
              <a:t>Plazos por definir</a:t>
            </a:r>
            <a:endParaRPr lang="en-US" sz="1700" dirty="0"/>
          </a:p>
        </p:txBody>
      </p:sp>
      <p:sp>
        <p:nvSpPr>
          <p:cNvPr id="16" name="modulo-p-4"/>
          <p:cNvSpPr/>
          <p:nvPr/>
        </p:nvSpPr>
        <p:spPr>
          <a:xfrm>
            <a:off x="7406640" y="3794760"/>
            <a:ext cx="4206240" cy="621792"/>
          </a:xfrm>
          <a:prstGeom prst="roundRect">
            <a:avLst>
              <a:gd name="adj" fmla="val 14706"/>
            </a:avLst>
          </a:prstGeom>
          <a:solidFill>
            <a:srgbClr val="1F4275"/>
          </a:solidFill>
          <a:ln/>
        </p:spPr>
      </p:sp>
      <p:pic>
        <p:nvPicPr>
          <p:cNvPr id="17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635240" y="3931920"/>
            <a:ext cx="347472" cy="347472"/>
          </a:xfrm>
          <a:prstGeom prst="rect">
            <a:avLst/>
          </a:prstGeom>
        </p:spPr>
      </p:pic>
      <p:sp>
        <p:nvSpPr>
          <p:cNvPr id="18" name="Text 11"/>
          <p:cNvSpPr txBox="1"/>
          <p:nvPr/>
        </p:nvSpPr>
        <p:spPr>
          <a:xfrm>
            <a:off x="8229600" y="3794760"/>
            <a:ext cx="329184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dirty="0">
                <a:solidFill>
                  <a:srgbClr val="FFFFFF"/>
                </a:solidFill>
              </a:rPr>
              <a:t>Alertas</a:t>
            </a:r>
            <a:endParaRPr lang="en-US" sz="1700" dirty="0"/>
          </a:p>
        </p:txBody>
      </p:sp>
      <p:sp>
        <p:nvSpPr>
          <p:cNvPr id="19" name="modulo-p-5"/>
          <p:cNvSpPr/>
          <p:nvPr/>
        </p:nvSpPr>
        <p:spPr>
          <a:xfrm>
            <a:off x="7406640" y="4572000"/>
            <a:ext cx="4206240" cy="621792"/>
          </a:xfrm>
          <a:prstGeom prst="roundRect">
            <a:avLst>
              <a:gd name="adj" fmla="val 14706"/>
            </a:avLst>
          </a:prstGeom>
          <a:solidFill>
            <a:srgbClr val="1F4275"/>
          </a:solidFill>
          <a:ln/>
        </p:spPr>
      </p:sp>
      <p:pic>
        <p:nvPicPr>
          <p:cNvPr id="20" name="Image 5" descr="preencoded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7635240" y="4709160"/>
            <a:ext cx="347472" cy="347472"/>
          </a:xfrm>
          <a:prstGeom prst="rect">
            <a:avLst/>
          </a:prstGeom>
        </p:spPr>
      </p:pic>
      <p:sp>
        <p:nvSpPr>
          <p:cNvPr id="21" name="Text 13"/>
          <p:cNvSpPr txBox="1"/>
          <p:nvPr/>
        </p:nvSpPr>
        <p:spPr>
          <a:xfrm>
            <a:off x="8229600" y="4572000"/>
            <a:ext cx="329184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dirty="0">
                <a:solidFill>
                  <a:srgbClr val="FFFFFF"/>
                </a:solidFill>
              </a:rPr>
              <a:t>Mis plantillas</a:t>
            </a:r>
            <a:endParaRPr lang="en-US" sz="1700" dirty="0"/>
          </a:p>
        </p:txBody>
      </p:sp>
      <p:sp>
        <p:nvSpPr>
          <p:cNvPr id="22" name="modulo-p-6"/>
          <p:cNvSpPr/>
          <p:nvPr/>
        </p:nvSpPr>
        <p:spPr>
          <a:xfrm>
            <a:off x="7406640" y="5349240"/>
            <a:ext cx="4206240" cy="621792"/>
          </a:xfrm>
          <a:prstGeom prst="roundRect">
            <a:avLst>
              <a:gd name="adj" fmla="val 14706"/>
            </a:avLst>
          </a:prstGeom>
          <a:solidFill>
            <a:srgbClr val="1F4275"/>
          </a:solidFill>
          <a:ln/>
        </p:spPr>
      </p:sp>
      <p:pic>
        <p:nvPicPr>
          <p:cNvPr id="23" name="Image 6" descr="preencoded.png">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7635240" y="5486400"/>
            <a:ext cx="347472" cy="347472"/>
          </a:xfrm>
          <a:prstGeom prst="rect">
            <a:avLst/>
          </a:prstGeom>
        </p:spPr>
      </p:pic>
      <p:sp>
        <p:nvSpPr>
          <p:cNvPr id="24" name="Text 15"/>
          <p:cNvSpPr txBox="1"/>
          <p:nvPr/>
        </p:nvSpPr>
        <p:spPr>
          <a:xfrm>
            <a:off x="8229600" y="5349240"/>
            <a:ext cx="329184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dirty="0">
                <a:solidFill>
                  <a:srgbClr val="FFFFFF"/>
                </a:solidFill>
              </a:rPr>
              <a:t>Trámites SGD · Extensión</a:t>
            </a:r>
            <a:endParaRPr lang="en-US" sz="1700" dirty="0"/>
          </a:p>
        </p:txBody>
      </p:sp>
      <p:sp>
        <p:nvSpPr>
          <p:cNvPr id="25" name="Text 16"/>
          <p:cNvSpPr txBox="1"/>
          <p:nvPr/>
        </p:nvSpPr>
        <p:spPr>
          <a:xfrm>
            <a:off x="731520" y="4114800"/>
            <a:ext cx="4572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chemeClr val="accent2"/>
                </a:solidFill>
              </a:rPr>
              <a:t>7 módulos en el menú</a:t>
            </a:r>
            <a:endParaRPr lang="en-US" sz="1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55680" y="640080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9FB3D1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15</a:t>
            </a:fld>
            <a:endParaRPr lang="en-US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110642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200" b="1" dirty="0">
                <a:solidFill>
                  <a:schemeClr val="tx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Mi panel</a:t>
            </a:r>
            <a:endParaRPr lang="en-US" sz="3200" dirty="0"/>
          </a:p>
        </p:txBody>
      </p:sp>
      <p:sp>
        <p:nvSpPr>
          <p:cNvPr id="3" name="Text 0"/>
          <p:cNvSpPr/>
          <p:nvPr>
            <p:ph idx="101" type="body" hasCustomPrompt="1"/>
          </p:nvPr>
        </p:nvSpPr>
        <p:spPr>
          <a:xfrm>
            <a:off x="548640" y="960120"/>
            <a:ext cx="110642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600" dirty="0">
                <a:solidFill>
                  <a:schemeClr val="accent6"/>
                </a:solidFill>
              </a:rPr>
              <a:t>El tablero de control personal del abogado</a:t>
            </a:r>
            <a:endParaRPr lang="en-US" sz="1600" dirty="0"/>
          </a:p>
        </p:txBody>
      </p:sp>
      <p:sp>
        <p:nvSpPr>
          <p:cNvPr id="4" name="marco-p-panel"/>
          <p:cNvSpPr/>
          <p:nvPr/>
        </p:nvSpPr>
        <p:spPr>
          <a:xfrm>
            <a:off x="548640" y="1554480"/>
            <a:ext cx="7589520" cy="4532630"/>
          </a:xfrm>
          <a:prstGeom prst="rect">
            <a:avLst/>
          </a:prstGeom>
          <a:solidFill>
            <a:srgbClr val="FFFFFF"/>
          </a:solidFill>
          <a:ln w="9525">
            <a:solidFill>
              <a:srgbClr val="D5DBE5"/>
            </a:solidFill>
            <a:prstDash val="solid"/>
          </a:ln>
          <a:effectLst>
            <a:outerShdw sx="100000" sy="100000" kx="0" ky="0" algn="bl" rotWithShape="0" blurRad="101600" dist="25400" dir="5400000">
              <a:srgbClr val="000000">
                <a:alpha val="18000"/>
              </a:srgbClr>
            </a:outerShdw>
          </a:effectLst>
        </p:spPr>
      </p:sp>
      <p:pic>
        <p:nvPicPr>
          <p:cNvPr id="5" name="captura-p-panel" descr="Captura de pantalla: p-panel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48640" y="1554480"/>
            <a:ext cx="7589520" cy="4532630"/>
          </a:xfrm>
          <a:prstGeom prst="rect">
            <a:avLst/>
          </a:prstGeom>
        </p:spPr>
      </p:pic>
      <p:sp>
        <p:nvSpPr>
          <p:cNvPr id="6" name="num-0"/>
          <p:cNvSpPr/>
          <p:nvPr/>
        </p:nvSpPr>
        <p:spPr>
          <a:xfrm>
            <a:off x="8503920" y="1618488"/>
            <a:ext cx="384048" cy="384048"/>
          </a:xfrm>
          <a:prstGeom prst="ellipse">
            <a:avLst/>
          </a:prstGeom>
          <a:solidFill>
            <a:schemeClr val="accent2"/>
          </a:solidFill>
          <a:ln/>
        </p:spPr>
      </p:sp>
      <p:sp>
        <p:nvSpPr>
          <p:cNvPr id="7" name="Text 4"/>
          <p:cNvSpPr txBox="1"/>
          <p:nvPr/>
        </p:nvSpPr>
        <p:spPr>
          <a:xfrm>
            <a:off x="8503920" y="1618488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chemeClr val="tx2"/>
                </a:solidFill>
              </a:rPr>
              <a:t>1</a:t>
            </a:r>
            <a:endParaRPr lang="en-US" sz="1400" dirty="0"/>
          </a:p>
        </p:txBody>
      </p:sp>
      <p:sp>
        <p:nvSpPr>
          <p:cNvPr id="8" name="Text 5"/>
          <p:cNvSpPr txBox="1"/>
          <p:nvPr/>
        </p:nvSpPr>
        <p:spPr>
          <a:xfrm>
            <a:off x="9034272" y="1581912"/>
            <a:ext cx="2624328" cy="104698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300"/>
              </a:spcAft>
              <a:buNone/>
            </a:pPr>
            <a:r>
              <a:rPr lang="en-US" sz="1500" b="1" dirty="0">
                <a:solidFill>
                  <a:schemeClr val="tx2"/>
                </a:solidFill>
              </a:rPr>
              <a:t>Mi cartera</a:t>
            </a:r>
            <a:endParaRPr lang="en-US" sz="1500" dirty="0"/>
          </a:p>
          <a:p>
            <a:pPr indent="0" marL="0">
              <a:spcAft>
                <a:spcPts val="300"/>
              </a:spcAft>
              <a:buNone/>
            </a:pPr>
            <a:r>
              <a:rPr lang="en-US" sz="1400" dirty="0">
                <a:solidFill>
                  <a:schemeClr val="tx1"/>
                </a:solidFill>
              </a:rPr>
              <a:t>Procesos activos, en riesgo y tareas abiertas.</a:t>
            </a:r>
            <a:endParaRPr lang="en-US" sz="1500" dirty="0"/>
          </a:p>
        </p:txBody>
      </p:sp>
      <p:sp>
        <p:nvSpPr>
          <p:cNvPr id="9" name="num-1"/>
          <p:cNvSpPr/>
          <p:nvPr/>
        </p:nvSpPr>
        <p:spPr>
          <a:xfrm>
            <a:off x="8503920" y="2738628"/>
            <a:ext cx="384048" cy="384048"/>
          </a:xfrm>
          <a:prstGeom prst="ellipse">
            <a:avLst/>
          </a:prstGeom>
          <a:solidFill>
            <a:schemeClr val="accent2"/>
          </a:solidFill>
          <a:ln/>
        </p:spPr>
      </p:sp>
      <p:sp>
        <p:nvSpPr>
          <p:cNvPr id="10" name="Text 7"/>
          <p:cNvSpPr txBox="1"/>
          <p:nvPr/>
        </p:nvSpPr>
        <p:spPr>
          <a:xfrm>
            <a:off x="8503920" y="2738628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chemeClr val="tx2"/>
                </a:solidFill>
              </a:rPr>
              <a:t>2</a:t>
            </a:r>
            <a:endParaRPr lang="en-US" sz="1400" dirty="0"/>
          </a:p>
        </p:txBody>
      </p:sp>
      <p:sp>
        <p:nvSpPr>
          <p:cNvPr id="11" name="Text 8"/>
          <p:cNvSpPr txBox="1"/>
          <p:nvPr/>
        </p:nvSpPr>
        <p:spPr>
          <a:xfrm>
            <a:off x="9034272" y="2702052"/>
            <a:ext cx="2624328" cy="104698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300"/>
              </a:spcAft>
              <a:buNone/>
            </a:pPr>
            <a:r>
              <a:rPr lang="en-US" sz="1500" b="1" dirty="0">
                <a:solidFill>
                  <a:schemeClr val="tx2"/>
                </a:solidFill>
              </a:rPr>
              <a:t>Mis plazos</a:t>
            </a:r>
            <a:endParaRPr lang="en-US" sz="1500" dirty="0"/>
          </a:p>
          <a:p>
            <a:pPr indent="0" marL="0">
              <a:spcAft>
                <a:spcPts val="300"/>
              </a:spcAft>
              <a:buNone/>
            </a:pPr>
            <a:r>
              <a:rPr lang="en-US" sz="1400" dirty="0">
                <a:solidFill>
                  <a:schemeClr val="tx1"/>
                </a:solidFill>
              </a:rPr>
              <a:t>Vencidas, por vencer y sin plazo, con enlace «Definir ahora».</a:t>
            </a:r>
            <a:endParaRPr lang="en-US" sz="1500" dirty="0"/>
          </a:p>
        </p:txBody>
      </p:sp>
      <p:sp>
        <p:nvSpPr>
          <p:cNvPr id="12" name="num-2"/>
          <p:cNvSpPr/>
          <p:nvPr/>
        </p:nvSpPr>
        <p:spPr>
          <a:xfrm>
            <a:off x="8503920" y="3858768"/>
            <a:ext cx="384048" cy="384048"/>
          </a:xfrm>
          <a:prstGeom prst="ellipse">
            <a:avLst/>
          </a:prstGeom>
          <a:solidFill>
            <a:schemeClr val="accent2"/>
          </a:solidFill>
          <a:ln/>
        </p:spPr>
      </p:sp>
      <p:sp>
        <p:nvSpPr>
          <p:cNvPr id="13" name="Text 10"/>
          <p:cNvSpPr txBox="1"/>
          <p:nvPr/>
        </p:nvSpPr>
        <p:spPr>
          <a:xfrm>
            <a:off x="8503920" y="3858768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chemeClr val="tx2"/>
                </a:solidFill>
              </a:rPr>
              <a:t>3</a:t>
            </a:r>
            <a:endParaRPr lang="en-US" sz="1400" dirty="0"/>
          </a:p>
        </p:txBody>
      </p:sp>
      <p:sp>
        <p:nvSpPr>
          <p:cNvPr id="14" name="Text 11"/>
          <p:cNvSpPr txBox="1"/>
          <p:nvPr/>
        </p:nvSpPr>
        <p:spPr>
          <a:xfrm>
            <a:off x="9034272" y="3822192"/>
            <a:ext cx="2624328" cy="104698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300"/>
              </a:spcAft>
              <a:buNone/>
            </a:pPr>
            <a:r>
              <a:rPr lang="en-US" sz="1500" b="1" dirty="0">
                <a:solidFill>
                  <a:schemeClr val="tx2"/>
                </a:solidFill>
              </a:rPr>
              <a:t>Mi desempeño</a:t>
            </a:r>
            <a:endParaRPr lang="en-US" sz="1500" dirty="0"/>
          </a:p>
          <a:p>
            <a:pPr indent="0" marL="0">
              <a:spcAft>
                <a:spcPts val="300"/>
              </a:spcAft>
              <a:buNone/>
            </a:pPr>
            <a:r>
              <a:rPr lang="en-US" sz="1400" dirty="0">
                <a:solidFill>
                  <a:schemeClr val="tx1"/>
                </a:solidFill>
              </a:rPr>
              <a:t>Cumplimiento de plazos, SPI y resolución media.</a:t>
            </a:r>
            <a:endParaRPr lang="en-US" sz="1500" dirty="0"/>
          </a:p>
        </p:txBody>
      </p:sp>
      <p:sp>
        <p:nvSpPr>
          <p:cNvPr id="15" name="num-3"/>
          <p:cNvSpPr/>
          <p:nvPr/>
        </p:nvSpPr>
        <p:spPr>
          <a:xfrm>
            <a:off x="8503920" y="4978908"/>
            <a:ext cx="384048" cy="384048"/>
          </a:xfrm>
          <a:prstGeom prst="ellipse">
            <a:avLst/>
          </a:prstGeom>
          <a:solidFill>
            <a:schemeClr val="accent2"/>
          </a:solidFill>
          <a:ln/>
        </p:spPr>
      </p:sp>
      <p:sp>
        <p:nvSpPr>
          <p:cNvPr id="16" name="Text 13"/>
          <p:cNvSpPr txBox="1"/>
          <p:nvPr/>
        </p:nvSpPr>
        <p:spPr>
          <a:xfrm>
            <a:off x="8503920" y="4978908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chemeClr val="tx2"/>
                </a:solidFill>
              </a:rPr>
              <a:t>4</a:t>
            </a:r>
            <a:endParaRPr lang="en-US" sz="1400" dirty="0"/>
          </a:p>
        </p:txBody>
      </p:sp>
      <p:sp>
        <p:nvSpPr>
          <p:cNvPr id="17" name="Text 14"/>
          <p:cNvSpPr txBox="1"/>
          <p:nvPr/>
        </p:nvSpPr>
        <p:spPr>
          <a:xfrm>
            <a:off x="9034272" y="4942332"/>
            <a:ext cx="2624328" cy="104698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300"/>
              </a:spcAft>
              <a:buNone/>
            </a:pPr>
            <a:r>
              <a:rPr lang="en-US" sz="1500" b="1" dirty="0">
                <a:solidFill>
                  <a:schemeClr val="tx2"/>
                </a:solidFill>
              </a:rPr>
              <a:t>Agenda y alertas</a:t>
            </a:r>
            <a:endParaRPr lang="en-US" sz="1500" dirty="0"/>
          </a:p>
          <a:p>
            <a:pPr indent="0" marL="0">
              <a:spcAft>
                <a:spcPts val="300"/>
              </a:spcAft>
              <a:buNone/>
            </a:pPr>
            <a:r>
              <a:rPr lang="en-US" sz="1400" dirty="0">
                <a:solidFill>
                  <a:schemeClr val="tx1"/>
                </a:solidFill>
              </a:rPr>
              <a:t>Lo que debe atender hoy, ordenado por urgencia.</a:t>
            </a:r>
            <a:endParaRPr lang="en-US" sz="15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55680" y="640080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8A97AB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16</a:t>
            </a:fld>
            <a:endParaRPr lang="en-US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110642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200" b="1" dirty="0">
                <a:solidFill>
                  <a:schemeClr val="tx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Indicadores (KPI) del Profesional</a:t>
            </a:r>
            <a:endParaRPr lang="en-US" sz="3200" dirty="0"/>
          </a:p>
        </p:txBody>
      </p:sp>
      <p:sp>
        <p:nvSpPr>
          <p:cNvPr id="3" name="Text 0"/>
          <p:cNvSpPr/>
          <p:nvPr>
            <p:ph idx="101" type="body" hasCustomPrompt="1"/>
          </p:nvPr>
        </p:nvSpPr>
        <p:spPr>
          <a:xfrm>
            <a:off x="548640" y="960120"/>
            <a:ext cx="110642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600" dirty="0">
                <a:solidFill>
                  <a:schemeClr val="accent6"/>
                </a:solidFill>
              </a:rPr>
              <a:t>Los mismos criterios de la Gerencia, aplicados solo a sus procesos</a:t>
            </a:r>
            <a:endParaRPr lang="en-US" sz="1600" dirty="0"/>
          </a:p>
        </p:txBody>
      </p:sp>
      <p:graphicFrame>
        <p:nvGraphicFramePr>
          <p:cNvPr id="18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1554480"/>
          <a:ext cx="11064240" cy="914400"/>
        </p:xfrm>
        <a:graphic>
          <a:graphicData uri="http://schemas.openxmlformats.org/drawingml/2006/table">
            <a:tbl>
              <a:tblPr/>
              <a:tblGrid>
                <a:gridCol w="3474720"/>
                <a:gridCol w="5943600"/>
                <a:gridCol w="1645920"/>
              </a:tblGrid>
              <a:tr h="47548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Indicador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38100" marB="38100" anchor="ctr">
                    <a:lnL w="6350" cap="flat" cmpd="sng" algn="ctr">
                      <a:solidFill>
                        <a:srgbClr val="D5DB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B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B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B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4305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Cómo se calcula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38100" marB="38100" anchor="ctr">
                    <a:lnL w="6350" cap="flat" cmpd="sng" algn="ctr">
                      <a:solidFill>
                        <a:srgbClr val="D5DB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B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B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B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4305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Meta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38100" marB="38100" anchor="ctr">
                    <a:lnL w="6350" cap="flat" cmpd="sng" algn="ctr">
                      <a:solidFill>
                        <a:srgbClr val="D5DB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B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B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B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4305A"/>
                    </a:solidFill>
                  </a:tcPr>
                </a:tc>
              </a:tr>
              <a:tr h="47548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1B24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Mis procesos activos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38100" marB="38100" anchor="ctr">
                    <a:lnL w="6350" cap="flat" cmpd="sng" algn="ctr">
                      <a:solidFill>
                        <a:srgbClr val="D5DB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B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B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B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4F8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B24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Procesos a su cargo en estado Activo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38100" marB="38100" anchor="ctr">
                    <a:lnL w="6350" cap="flat" cmpd="sng" algn="ctr">
                      <a:solidFill>
                        <a:srgbClr val="D5DB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B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B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B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4F8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B24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—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38100" marB="38100" anchor="ctr">
                    <a:lnL w="6350" cap="flat" cmpd="sng" algn="ctr">
                      <a:solidFill>
                        <a:srgbClr val="D5DB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B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B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B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4F8"/>
                    </a:solidFill>
                  </a:tcPr>
                </a:tc>
              </a:tr>
              <a:tr h="47548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1B24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Tareas abiertas · por vencer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38100" marB="38100" anchor="ctr">
                    <a:lnL w="6350" cap="flat" cmpd="sng" algn="ctr">
                      <a:solidFill>
                        <a:srgbClr val="D5DB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B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B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B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B24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Tareas abiertas; las que vencen en ≤ 3 días hábiles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38100" marB="38100" anchor="ctr">
                    <a:lnL w="6350" cap="flat" cmpd="sng" algn="ctr">
                      <a:solidFill>
                        <a:srgbClr val="D5DB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B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B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B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B24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—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38100" marB="38100" anchor="ctr">
                    <a:lnL w="6350" cap="flat" cmpd="sng" algn="ctr">
                      <a:solidFill>
                        <a:srgbClr val="D5DB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B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B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B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7548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1B24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Tareas vencidas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38100" marB="38100" anchor="ctr">
                    <a:lnL w="6350" cap="flat" cmpd="sng" algn="ctr">
                      <a:solidFill>
                        <a:srgbClr val="D5DB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B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B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B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4F8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B24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Tareas abiertas con fecha límite anterior a hoy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38100" marB="38100" anchor="ctr">
                    <a:lnL w="6350" cap="flat" cmpd="sng" algn="ctr">
                      <a:solidFill>
                        <a:srgbClr val="D5DB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B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B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B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4F8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B24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38100" marB="38100" anchor="ctr">
                    <a:lnL w="6350" cap="flat" cmpd="sng" algn="ctr">
                      <a:solidFill>
                        <a:srgbClr val="D5DB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B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B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B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4F8"/>
                    </a:solidFill>
                  </a:tcPr>
                </a:tc>
              </a:tr>
              <a:tr h="47548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1B24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Plazos por definir · solicitudes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38100" marB="38100" anchor="ctr">
                    <a:lnL w="6350" cap="flat" cmpd="sng" algn="ctr">
                      <a:solidFill>
                        <a:srgbClr val="D5DB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B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B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B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B24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Alertas «plazo no definido» y solicitudes pendientes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38100" marB="38100" anchor="ctr">
                    <a:lnL w="6350" cap="flat" cmpd="sng" algn="ctr">
                      <a:solidFill>
                        <a:srgbClr val="D5DB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B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B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B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B24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38100" marB="38100" anchor="ctr">
                    <a:lnL w="6350" cap="flat" cmpd="sng" algn="ctr">
                      <a:solidFill>
                        <a:srgbClr val="D5DB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B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B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B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7548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1B24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Cumplimiento de plazos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38100" marB="38100" anchor="ctr">
                    <a:lnL w="6350" cap="flat" cmpd="sng" algn="ctr">
                      <a:solidFill>
                        <a:srgbClr val="D5DB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B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B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B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4F8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B24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Sus tareas finalizadas a tiempo ÷ con fecha límite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38100" marB="38100" anchor="ctr">
                    <a:lnL w="6350" cap="flat" cmpd="sng" algn="ctr">
                      <a:solidFill>
                        <a:srgbClr val="D5DB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B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B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B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4F8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B24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≥ 90 %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38100" marB="38100" anchor="ctr">
                    <a:lnL w="6350" cap="flat" cmpd="sng" algn="ctr">
                      <a:solidFill>
                        <a:srgbClr val="D5DB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B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B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B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4F8"/>
                    </a:solidFill>
                  </a:tcPr>
                </a:tc>
              </a:tr>
              <a:tr h="47548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1B24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Desempeño del cronograma (SPI)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38100" marB="38100" anchor="ctr">
                    <a:lnL w="6350" cap="flat" cmpd="sng" algn="ctr">
                      <a:solidFill>
                        <a:srgbClr val="D5DB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B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B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B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B24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Sus tareas finalizadas ÷ tareas cuya fecha ya llegó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38100" marB="38100" anchor="ctr">
                    <a:lnL w="6350" cap="flat" cmpd="sng" algn="ctr">
                      <a:solidFill>
                        <a:srgbClr val="D5DB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B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B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B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B24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≥ 0,90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38100" marB="38100" anchor="ctr">
                    <a:lnL w="6350" cap="flat" cmpd="sng" algn="ctr">
                      <a:solidFill>
                        <a:srgbClr val="D5DB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B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B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B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7548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1B24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Resolución media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38100" marB="38100" anchor="ctr">
                    <a:lnL w="6350" cap="flat" cmpd="sng" algn="ctr">
                      <a:solidFill>
                        <a:srgbClr val="D5DB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B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B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B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4F8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B24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Días promedio entre inicio y fin de sus tareas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38100" marB="38100" anchor="ctr">
                    <a:lnL w="6350" cap="flat" cmpd="sng" algn="ctr">
                      <a:solidFill>
                        <a:srgbClr val="D5DB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B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B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B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4F8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B24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Reducir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38100" marB="38100" anchor="ctr">
                    <a:lnL w="6350" cap="flat" cmpd="sng" algn="ctr">
                      <a:solidFill>
                        <a:srgbClr val="D5DB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B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B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B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4F8"/>
                    </a:solidFill>
                  </a:tcPr>
                </a:tc>
              </a:tr>
            </a:tbl>
          </a:graphicData>
        </a:graphic>
      </p:graphicFrame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55680" y="640080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8A97AB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17</a:t>
            </a:fld>
            <a:endParaRPr lang="en-US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110642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200" b="1" dirty="0">
                <a:solidFill>
                  <a:schemeClr val="tx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Mis procesos</a:t>
            </a:r>
            <a:endParaRPr lang="en-US" sz="3200" dirty="0"/>
          </a:p>
        </p:txBody>
      </p:sp>
      <p:sp>
        <p:nvSpPr>
          <p:cNvPr id="3" name="Text 0"/>
          <p:cNvSpPr/>
          <p:nvPr>
            <p:ph idx="101" type="body" hasCustomPrompt="1"/>
          </p:nvPr>
        </p:nvSpPr>
        <p:spPr>
          <a:xfrm>
            <a:off x="548640" y="960120"/>
            <a:ext cx="110642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600" dirty="0">
                <a:solidFill>
                  <a:schemeClr val="accent6"/>
                </a:solidFill>
              </a:rPr>
              <a:t>Cada proceso desplegable con su ciclo de tareas completo</a:t>
            </a:r>
            <a:endParaRPr lang="en-US" sz="1600" dirty="0"/>
          </a:p>
        </p:txBody>
      </p:sp>
      <p:sp>
        <p:nvSpPr>
          <p:cNvPr id="4" name="marco-p-procesos-panel"/>
          <p:cNvSpPr/>
          <p:nvPr/>
        </p:nvSpPr>
        <p:spPr>
          <a:xfrm>
            <a:off x="548640" y="1554480"/>
            <a:ext cx="7589520" cy="4532630"/>
          </a:xfrm>
          <a:prstGeom prst="rect">
            <a:avLst/>
          </a:prstGeom>
          <a:solidFill>
            <a:srgbClr val="FFFFFF"/>
          </a:solidFill>
          <a:ln w="9525">
            <a:solidFill>
              <a:srgbClr val="D5DBE5"/>
            </a:solidFill>
            <a:prstDash val="solid"/>
          </a:ln>
          <a:effectLst>
            <a:outerShdw sx="100000" sy="100000" kx="0" ky="0" algn="bl" rotWithShape="0" blurRad="101600" dist="25400" dir="5400000">
              <a:srgbClr val="000000">
                <a:alpha val="18000"/>
              </a:srgbClr>
            </a:outerShdw>
          </a:effectLst>
        </p:spPr>
      </p:sp>
      <p:pic>
        <p:nvPicPr>
          <p:cNvPr id="5" name="captura-p-procesos-panel" descr="Captura de pantalla: p-procesos-panel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48640" y="1554480"/>
            <a:ext cx="7589520" cy="4532630"/>
          </a:xfrm>
          <a:prstGeom prst="rect">
            <a:avLst/>
          </a:prstGeom>
        </p:spPr>
      </p:pic>
      <p:sp>
        <p:nvSpPr>
          <p:cNvPr id="6" name="num-0"/>
          <p:cNvSpPr/>
          <p:nvPr/>
        </p:nvSpPr>
        <p:spPr>
          <a:xfrm>
            <a:off x="8503920" y="1618488"/>
            <a:ext cx="384048" cy="384048"/>
          </a:xfrm>
          <a:prstGeom prst="ellipse">
            <a:avLst/>
          </a:prstGeom>
          <a:solidFill>
            <a:schemeClr val="accent2"/>
          </a:solidFill>
          <a:ln/>
        </p:spPr>
      </p:sp>
      <p:sp>
        <p:nvSpPr>
          <p:cNvPr id="7" name="Text 4"/>
          <p:cNvSpPr txBox="1"/>
          <p:nvPr/>
        </p:nvSpPr>
        <p:spPr>
          <a:xfrm>
            <a:off x="8503920" y="1618488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chemeClr val="tx2"/>
                </a:solidFill>
              </a:rPr>
              <a:t>1</a:t>
            </a:r>
            <a:endParaRPr lang="en-US" sz="1400" dirty="0"/>
          </a:p>
        </p:txBody>
      </p:sp>
      <p:sp>
        <p:nvSpPr>
          <p:cNvPr id="8" name="Text 5"/>
          <p:cNvSpPr txBox="1"/>
          <p:nvPr/>
        </p:nvSpPr>
        <p:spPr>
          <a:xfrm>
            <a:off x="9034272" y="1581912"/>
            <a:ext cx="2624328" cy="104698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300"/>
              </a:spcAft>
              <a:buNone/>
            </a:pPr>
            <a:r>
              <a:rPr lang="en-US" sz="1500" b="1" dirty="0">
                <a:solidFill>
                  <a:schemeClr val="tx2"/>
                </a:solidFill>
              </a:rPr>
              <a:t>Ordenados por riesgo</a:t>
            </a:r>
            <a:endParaRPr lang="en-US" sz="1500" dirty="0"/>
          </a:p>
          <a:p>
            <a:pPr indent="0" marL="0">
              <a:spcAft>
                <a:spcPts val="300"/>
              </a:spcAft>
              <a:buNone/>
            </a:pPr>
            <a:r>
              <a:rPr lang="en-US" sz="1400" dirty="0">
                <a:solidFill>
                  <a:schemeClr val="tx1"/>
                </a:solidFill>
              </a:rPr>
              <a:t>Primero los procesos en rojo, luego ámbar y verde.</a:t>
            </a:r>
            <a:endParaRPr lang="en-US" sz="1500" dirty="0"/>
          </a:p>
        </p:txBody>
      </p:sp>
      <p:sp>
        <p:nvSpPr>
          <p:cNvPr id="9" name="num-1"/>
          <p:cNvSpPr/>
          <p:nvPr/>
        </p:nvSpPr>
        <p:spPr>
          <a:xfrm>
            <a:off x="8503920" y="2738628"/>
            <a:ext cx="384048" cy="384048"/>
          </a:xfrm>
          <a:prstGeom prst="ellipse">
            <a:avLst/>
          </a:prstGeom>
          <a:solidFill>
            <a:schemeClr val="accent2"/>
          </a:solidFill>
          <a:ln/>
        </p:spPr>
      </p:sp>
      <p:sp>
        <p:nvSpPr>
          <p:cNvPr id="10" name="Text 7"/>
          <p:cNvSpPr txBox="1"/>
          <p:nvPr/>
        </p:nvSpPr>
        <p:spPr>
          <a:xfrm>
            <a:off x="8503920" y="2738628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chemeClr val="tx2"/>
                </a:solidFill>
              </a:rPr>
              <a:t>2</a:t>
            </a:r>
            <a:endParaRPr lang="en-US" sz="1400" dirty="0"/>
          </a:p>
        </p:txBody>
      </p:sp>
      <p:sp>
        <p:nvSpPr>
          <p:cNvPr id="11" name="Text 8"/>
          <p:cNvSpPr txBox="1"/>
          <p:nvPr/>
        </p:nvSpPr>
        <p:spPr>
          <a:xfrm>
            <a:off x="9034272" y="2702052"/>
            <a:ext cx="2624328" cy="104698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300"/>
              </a:spcAft>
              <a:buNone/>
            </a:pPr>
            <a:r>
              <a:rPr lang="en-US" sz="1500" b="1" dirty="0">
                <a:solidFill>
                  <a:schemeClr val="tx2"/>
                </a:solidFill>
              </a:rPr>
              <a:t>Avance real vs. plan</a:t>
            </a:r>
            <a:endParaRPr lang="en-US" sz="1500" dirty="0"/>
          </a:p>
          <a:p>
            <a:pPr indent="0" marL="0">
              <a:spcAft>
                <a:spcPts val="300"/>
              </a:spcAft>
              <a:buNone/>
            </a:pPr>
            <a:r>
              <a:rPr lang="en-US" sz="1400" dirty="0">
                <a:solidFill>
                  <a:schemeClr val="tx1"/>
                </a:solidFill>
              </a:rPr>
              <a:t>Real &lt; plan indica que el proceso va atrasado.</a:t>
            </a:r>
            <a:endParaRPr lang="en-US" sz="1500" dirty="0"/>
          </a:p>
        </p:txBody>
      </p:sp>
      <p:sp>
        <p:nvSpPr>
          <p:cNvPr id="12" name="num-2"/>
          <p:cNvSpPr/>
          <p:nvPr/>
        </p:nvSpPr>
        <p:spPr>
          <a:xfrm>
            <a:off x="8503920" y="3858768"/>
            <a:ext cx="384048" cy="384048"/>
          </a:xfrm>
          <a:prstGeom prst="ellipse">
            <a:avLst/>
          </a:prstGeom>
          <a:solidFill>
            <a:schemeClr val="accent2"/>
          </a:solidFill>
          <a:ln/>
        </p:spPr>
      </p:sp>
      <p:sp>
        <p:nvSpPr>
          <p:cNvPr id="13" name="Text 10"/>
          <p:cNvSpPr txBox="1"/>
          <p:nvPr/>
        </p:nvSpPr>
        <p:spPr>
          <a:xfrm>
            <a:off x="8503920" y="3858768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chemeClr val="tx2"/>
                </a:solidFill>
              </a:rPr>
              <a:t>3</a:t>
            </a:r>
            <a:endParaRPr lang="en-US" sz="1400" dirty="0"/>
          </a:p>
        </p:txBody>
      </p:sp>
      <p:sp>
        <p:nvSpPr>
          <p:cNvPr id="14" name="Text 11"/>
          <p:cNvSpPr txBox="1"/>
          <p:nvPr/>
        </p:nvSpPr>
        <p:spPr>
          <a:xfrm>
            <a:off x="9034272" y="3822192"/>
            <a:ext cx="2624328" cy="104698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300"/>
              </a:spcAft>
              <a:buNone/>
            </a:pPr>
            <a:r>
              <a:rPr lang="en-US" sz="1500" b="1" dirty="0">
                <a:solidFill>
                  <a:schemeClr val="tx2"/>
                </a:solidFill>
              </a:rPr>
              <a:t>Ciclo de tareas</a:t>
            </a:r>
            <a:endParaRPr lang="en-US" sz="1500" dirty="0"/>
          </a:p>
          <a:p>
            <a:pPr indent="0" marL="0">
              <a:spcAft>
                <a:spcPts val="300"/>
              </a:spcAft>
              <a:buNone/>
            </a:pPr>
            <a:r>
              <a:rPr lang="en-US" sz="1400" dirty="0">
                <a:solidFill>
                  <a:schemeClr val="tx1"/>
                </a:solidFill>
              </a:rPr>
              <a:t>Estado y plazo de cada tarea, con acceso a su ficha.</a:t>
            </a:r>
            <a:endParaRPr lang="en-US" sz="1500" dirty="0"/>
          </a:p>
        </p:txBody>
      </p:sp>
      <p:sp>
        <p:nvSpPr>
          <p:cNvPr id="15" name="num-3"/>
          <p:cNvSpPr/>
          <p:nvPr/>
        </p:nvSpPr>
        <p:spPr>
          <a:xfrm>
            <a:off x="8503920" y="4978908"/>
            <a:ext cx="384048" cy="384048"/>
          </a:xfrm>
          <a:prstGeom prst="ellipse">
            <a:avLst/>
          </a:prstGeom>
          <a:solidFill>
            <a:schemeClr val="accent2"/>
          </a:solidFill>
          <a:ln/>
        </p:spPr>
      </p:sp>
      <p:sp>
        <p:nvSpPr>
          <p:cNvPr id="16" name="Text 13"/>
          <p:cNvSpPr txBox="1"/>
          <p:nvPr/>
        </p:nvSpPr>
        <p:spPr>
          <a:xfrm>
            <a:off x="8503920" y="4978908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chemeClr val="tx2"/>
                </a:solidFill>
              </a:rPr>
              <a:t>4</a:t>
            </a:r>
            <a:endParaRPr lang="en-US" sz="1400" dirty="0"/>
          </a:p>
        </p:txBody>
      </p:sp>
      <p:sp>
        <p:nvSpPr>
          <p:cNvPr id="17" name="Text 14"/>
          <p:cNvSpPr txBox="1"/>
          <p:nvPr/>
        </p:nvSpPr>
        <p:spPr>
          <a:xfrm>
            <a:off x="9034272" y="4942332"/>
            <a:ext cx="2624328" cy="104698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300"/>
              </a:spcAft>
              <a:buNone/>
            </a:pPr>
            <a:r>
              <a:rPr lang="en-US" sz="1500" b="1" dirty="0">
                <a:solidFill>
                  <a:schemeClr val="tx2"/>
                </a:solidFill>
              </a:rPr>
              <a:t>Registrar proceso</a:t>
            </a:r>
            <a:endParaRPr lang="en-US" sz="1500" dirty="0"/>
          </a:p>
          <a:p>
            <a:pPr indent="0" marL="0">
              <a:spcAft>
                <a:spcPts val="300"/>
              </a:spcAft>
              <a:buNone/>
            </a:pPr>
            <a:r>
              <a:rPr lang="en-US" sz="1400" dirty="0">
                <a:solidFill>
                  <a:schemeClr val="tx1"/>
                </a:solidFill>
              </a:rPr>
              <a:t>También puede crear procesos de sus vías aprobadas.</a:t>
            </a:r>
            <a:endParaRPr lang="en-US" sz="15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55680" y="640080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8A97AB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18</a:t>
            </a:fld>
            <a:endParaRPr lang="en-US"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110642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200" b="1" dirty="0">
                <a:solidFill>
                  <a:schemeClr val="tx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Mis tareas · tablero</a:t>
            </a:r>
            <a:endParaRPr lang="en-US" sz="3200" dirty="0"/>
          </a:p>
        </p:txBody>
      </p:sp>
      <p:sp>
        <p:nvSpPr>
          <p:cNvPr id="3" name="Text 0"/>
          <p:cNvSpPr/>
          <p:nvPr>
            <p:ph idx="101" type="body" hasCustomPrompt="1"/>
          </p:nvPr>
        </p:nvSpPr>
        <p:spPr>
          <a:xfrm>
            <a:off x="548640" y="960120"/>
            <a:ext cx="110642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600" dirty="0">
                <a:solidFill>
                  <a:schemeClr val="accent6"/>
                </a:solidFill>
              </a:rPr>
              <a:t>Por hacer · En proceso · En revisión · Finalizada</a:t>
            </a:r>
            <a:endParaRPr lang="en-US" sz="1600" dirty="0"/>
          </a:p>
        </p:txBody>
      </p:sp>
      <p:sp>
        <p:nvSpPr>
          <p:cNvPr id="4" name="marco-p-tareas"/>
          <p:cNvSpPr/>
          <p:nvPr/>
        </p:nvSpPr>
        <p:spPr>
          <a:xfrm>
            <a:off x="548640" y="1554480"/>
            <a:ext cx="7589520" cy="4532630"/>
          </a:xfrm>
          <a:prstGeom prst="rect">
            <a:avLst/>
          </a:prstGeom>
          <a:solidFill>
            <a:srgbClr val="FFFFFF"/>
          </a:solidFill>
          <a:ln w="9525">
            <a:solidFill>
              <a:srgbClr val="D5DBE5"/>
            </a:solidFill>
            <a:prstDash val="solid"/>
          </a:ln>
          <a:effectLst>
            <a:outerShdw sx="100000" sy="100000" kx="0" ky="0" algn="bl" rotWithShape="0" blurRad="101600" dist="25400" dir="5400000">
              <a:srgbClr val="000000">
                <a:alpha val="18000"/>
              </a:srgbClr>
            </a:outerShdw>
          </a:effectLst>
        </p:spPr>
      </p:sp>
      <p:pic>
        <p:nvPicPr>
          <p:cNvPr id="5" name="captura-p-tareas" descr="Captura de pantalla: p-tareas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48640" y="1554480"/>
            <a:ext cx="7589520" cy="4532630"/>
          </a:xfrm>
          <a:prstGeom prst="rect">
            <a:avLst/>
          </a:prstGeom>
        </p:spPr>
      </p:pic>
      <p:sp>
        <p:nvSpPr>
          <p:cNvPr id="6" name="num-0"/>
          <p:cNvSpPr/>
          <p:nvPr/>
        </p:nvSpPr>
        <p:spPr>
          <a:xfrm>
            <a:off x="8503920" y="1618488"/>
            <a:ext cx="384048" cy="384048"/>
          </a:xfrm>
          <a:prstGeom prst="ellipse">
            <a:avLst/>
          </a:prstGeom>
          <a:solidFill>
            <a:schemeClr val="accent2"/>
          </a:solidFill>
          <a:ln/>
        </p:spPr>
      </p:sp>
      <p:sp>
        <p:nvSpPr>
          <p:cNvPr id="7" name="Text 4"/>
          <p:cNvSpPr txBox="1"/>
          <p:nvPr/>
        </p:nvSpPr>
        <p:spPr>
          <a:xfrm>
            <a:off x="8503920" y="1618488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chemeClr val="tx2"/>
                </a:solidFill>
              </a:rPr>
              <a:t>1</a:t>
            </a:r>
            <a:endParaRPr lang="en-US" sz="1400" dirty="0"/>
          </a:p>
        </p:txBody>
      </p:sp>
      <p:sp>
        <p:nvSpPr>
          <p:cNvPr id="8" name="Text 5"/>
          <p:cNvSpPr txBox="1"/>
          <p:nvPr/>
        </p:nvSpPr>
        <p:spPr>
          <a:xfrm>
            <a:off x="9034272" y="1581912"/>
            <a:ext cx="2624328" cy="104698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300"/>
              </a:spcAft>
              <a:buNone/>
            </a:pPr>
            <a:r>
              <a:rPr lang="en-US" sz="1500" b="1" dirty="0">
                <a:solidFill>
                  <a:schemeClr val="tx2"/>
                </a:solidFill>
              </a:rPr>
              <a:t>Arrastrar y soltar</a:t>
            </a:r>
            <a:endParaRPr lang="en-US" sz="1500" dirty="0"/>
          </a:p>
          <a:p>
            <a:pPr indent="0" marL="0">
              <a:spcAft>
                <a:spcPts val="300"/>
              </a:spcAft>
              <a:buNone/>
            </a:pPr>
            <a:r>
              <a:rPr lang="en-US" sz="1400" dirty="0">
                <a:solidFill>
                  <a:schemeClr val="tx1"/>
                </a:solidFill>
              </a:rPr>
              <a:t>Mueva las fichas con el mouse o con Mayús + ← →.</a:t>
            </a:r>
            <a:endParaRPr lang="en-US" sz="1500" dirty="0"/>
          </a:p>
        </p:txBody>
      </p:sp>
      <p:sp>
        <p:nvSpPr>
          <p:cNvPr id="9" name="num-1"/>
          <p:cNvSpPr/>
          <p:nvPr/>
        </p:nvSpPr>
        <p:spPr>
          <a:xfrm>
            <a:off x="8503920" y="2738628"/>
            <a:ext cx="384048" cy="384048"/>
          </a:xfrm>
          <a:prstGeom prst="ellipse">
            <a:avLst/>
          </a:prstGeom>
          <a:solidFill>
            <a:schemeClr val="accent2"/>
          </a:solidFill>
          <a:ln/>
        </p:spPr>
      </p:sp>
      <p:sp>
        <p:nvSpPr>
          <p:cNvPr id="10" name="Text 7"/>
          <p:cNvSpPr txBox="1"/>
          <p:nvPr/>
        </p:nvSpPr>
        <p:spPr>
          <a:xfrm>
            <a:off x="8503920" y="2738628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chemeClr val="tx2"/>
                </a:solidFill>
              </a:rPr>
              <a:t>2</a:t>
            </a:r>
            <a:endParaRPr lang="en-US" sz="1400" dirty="0"/>
          </a:p>
        </p:txBody>
      </p:sp>
      <p:sp>
        <p:nvSpPr>
          <p:cNvPr id="11" name="Text 8"/>
          <p:cNvSpPr txBox="1"/>
          <p:nvPr/>
        </p:nvSpPr>
        <p:spPr>
          <a:xfrm>
            <a:off x="9034272" y="2702052"/>
            <a:ext cx="2624328" cy="104698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300"/>
              </a:spcAft>
              <a:buNone/>
            </a:pPr>
            <a:r>
              <a:rPr lang="en-US" sz="1500" b="1" dirty="0">
                <a:solidFill>
                  <a:schemeClr val="tx2"/>
                </a:solidFill>
              </a:rPr>
              <a:t>Solo tareas habilitadas</a:t>
            </a:r>
            <a:endParaRPr lang="en-US" sz="1500" dirty="0"/>
          </a:p>
          <a:p>
            <a:pPr indent="0" marL="0">
              <a:spcAft>
                <a:spcPts val="300"/>
              </a:spcAft>
              <a:buNone/>
            </a:pPr>
            <a:r>
              <a:rPr lang="en-US" sz="1400" dirty="0">
                <a:solidFill>
                  <a:schemeClr val="tx1"/>
                </a:solidFill>
              </a:rPr>
              <a:t>Sin antecesora o con la antecesora ya finalizada.</a:t>
            </a:r>
            <a:endParaRPr lang="en-US" sz="1500" dirty="0"/>
          </a:p>
        </p:txBody>
      </p:sp>
      <p:sp>
        <p:nvSpPr>
          <p:cNvPr id="12" name="num-2"/>
          <p:cNvSpPr/>
          <p:nvPr/>
        </p:nvSpPr>
        <p:spPr>
          <a:xfrm>
            <a:off x="8503920" y="3858768"/>
            <a:ext cx="384048" cy="384048"/>
          </a:xfrm>
          <a:prstGeom prst="ellipse">
            <a:avLst/>
          </a:prstGeom>
          <a:solidFill>
            <a:schemeClr val="accent2"/>
          </a:solidFill>
          <a:ln/>
        </p:spPr>
      </p:sp>
      <p:sp>
        <p:nvSpPr>
          <p:cNvPr id="13" name="Text 10"/>
          <p:cNvSpPr txBox="1"/>
          <p:nvPr/>
        </p:nvSpPr>
        <p:spPr>
          <a:xfrm>
            <a:off x="8503920" y="3858768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chemeClr val="tx2"/>
                </a:solidFill>
              </a:rPr>
              <a:t>3</a:t>
            </a:r>
            <a:endParaRPr lang="en-US" sz="1400" dirty="0"/>
          </a:p>
        </p:txBody>
      </p:sp>
      <p:sp>
        <p:nvSpPr>
          <p:cNvPr id="14" name="Text 11"/>
          <p:cNvSpPr txBox="1"/>
          <p:nvPr/>
        </p:nvSpPr>
        <p:spPr>
          <a:xfrm>
            <a:off x="9034272" y="3822192"/>
            <a:ext cx="2624328" cy="104698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300"/>
              </a:spcAft>
              <a:buNone/>
            </a:pPr>
            <a:r>
              <a:rPr lang="en-US" sz="1500" b="1" dirty="0">
                <a:solidFill>
                  <a:schemeClr val="tx2"/>
                </a:solidFill>
              </a:rPr>
              <a:t>Retroceso justificado</a:t>
            </a:r>
            <a:endParaRPr lang="en-US" sz="1500" dirty="0"/>
          </a:p>
          <a:p>
            <a:pPr indent="0" marL="0">
              <a:spcAft>
                <a:spcPts val="300"/>
              </a:spcAft>
              <a:buNone/>
            </a:pPr>
            <a:r>
              <a:rPr lang="en-US" sz="1400" dirty="0">
                <a:solidFill>
                  <a:schemeClr val="tx1"/>
                </a:solidFill>
              </a:rPr>
              <a:t>Volver atrás pide justificación y avisa a la Gerencia.</a:t>
            </a:r>
            <a:endParaRPr lang="en-US" sz="1500" dirty="0"/>
          </a:p>
        </p:txBody>
      </p:sp>
      <p:sp>
        <p:nvSpPr>
          <p:cNvPr id="15" name="num-3"/>
          <p:cNvSpPr/>
          <p:nvPr/>
        </p:nvSpPr>
        <p:spPr>
          <a:xfrm>
            <a:off x="8503920" y="4978908"/>
            <a:ext cx="384048" cy="384048"/>
          </a:xfrm>
          <a:prstGeom prst="ellipse">
            <a:avLst/>
          </a:prstGeom>
          <a:solidFill>
            <a:schemeClr val="accent2"/>
          </a:solidFill>
          <a:ln/>
        </p:spPr>
      </p:sp>
      <p:sp>
        <p:nvSpPr>
          <p:cNvPr id="16" name="Text 13"/>
          <p:cNvSpPr txBox="1"/>
          <p:nvPr/>
        </p:nvSpPr>
        <p:spPr>
          <a:xfrm>
            <a:off x="8503920" y="4978908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chemeClr val="tx2"/>
                </a:solidFill>
              </a:rPr>
              <a:t>4</a:t>
            </a:r>
            <a:endParaRPr lang="en-US" sz="1400" dirty="0"/>
          </a:p>
        </p:txBody>
      </p:sp>
      <p:sp>
        <p:nvSpPr>
          <p:cNvPr id="17" name="Text 14"/>
          <p:cNvSpPr txBox="1"/>
          <p:nvPr/>
        </p:nvSpPr>
        <p:spPr>
          <a:xfrm>
            <a:off x="9034272" y="4942332"/>
            <a:ext cx="2624328" cy="104698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300"/>
              </a:spcAft>
              <a:buNone/>
            </a:pPr>
            <a:r>
              <a:rPr lang="en-US" sz="1500" b="1" dirty="0">
                <a:solidFill>
                  <a:schemeClr val="tx2"/>
                </a:solidFill>
              </a:rPr>
              <a:t>Vencimiento visible</a:t>
            </a:r>
            <a:endParaRPr lang="en-US" sz="1500" dirty="0"/>
          </a:p>
          <a:p>
            <a:pPr indent="0" marL="0">
              <a:spcAft>
                <a:spcPts val="300"/>
              </a:spcAft>
              <a:buNone/>
            </a:pPr>
            <a:r>
              <a:rPr lang="en-US" sz="1400" dirty="0">
                <a:solidFill>
                  <a:schemeClr val="tx1"/>
                </a:solidFill>
              </a:rPr>
              <a:t>Vencida, por vencer, vigente o sin plazo en cada ficha.</a:t>
            </a:r>
            <a:endParaRPr lang="en-US" sz="15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55680" y="640080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8A97AB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19</a:t>
            </a:fld>
            <a:endParaRPr lang="en-US"/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110642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200" b="1" dirty="0">
                <a:solidFill>
                  <a:schemeClr val="tx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Ficha de la tarea</a:t>
            </a:r>
            <a:endParaRPr lang="en-US" sz="3200" dirty="0"/>
          </a:p>
        </p:txBody>
      </p:sp>
      <p:sp>
        <p:nvSpPr>
          <p:cNvPr id="3" name="Text 0"/>
          <p:cNvSpPr/>
          <p:nvPr>
            <p:ph idx="101" type="body" hasCustomPrompt="1"/>
          </p:nvPr>
        </p:nvSpPr>
        <p:spPr>
          <a:xfrm>
            <a:off x="548640" y="960120"/>
            <a:ext cx="110642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600" dirty="0">
                <a:solidFill>
                  <a:schemeClr val="accent6"/>
                </a:solidFill>
              </a:rPr>
              <a:t>Todo el detalle de una tarea en una sola vista</a:t>
            </a:r>
            <a:endParaRPr lang="en-US" sz="1600" dirty="0"/>
          </a:p>
        </p:txBody>
      </p:sp>
      <p:sp>
        <p:nvSpPr>
          <p:cNvPr id="4" name="marco-p-ficha"/>
          <p:cNvSpPr/>
          <p:nvPr/>
        </p:nvSpPr>
        <p:spPr>
          <a:xfrm>
            <a:off x="548640" y="1554480"/>
            <a:ext cx="7589520" cy="4532630"/>
          </a:xfrm>
          <a:prstGeom prst="rect">
            <a:avLst/>
          </a:prstGeom>
          <a:solidFill>
            <a:srgbClr val="FFFFFF"/>
          </a:solidFill>
          <a:ln w="9525">
            <a:solidFill>
              <a:srgbClr val="D5DBE5"/>
            </a:solidFill>
            <a:prstDash val="solid"/>
          </a:ln>
          <a:effectLst>
            <a:outerShdw sx="100000" sy="100000" kx="0" ky="0" algn="bl" rotWithShape="0" blurRad="101600" dist="25400" dir="5400000">
              <a:srgbClr val="000000">
                <a:alpha val="18000"/>
              </a:srgbClr>
            </a:outerShdw>
          </a:effectLst>
        </p:spPr>
      </p:sp>
      <p:pic>
        <p:nvPicPr>
          <p:cNvPr id="5" name="captura-p-ficha" descr="Captura de pantalla: p-ficha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48640" y="1554480"/>
            <a:ext cx="7589520" cy="4532630"/>
          </a:xfrm>
          <a:prstGeom prst="rect">
            <a:avLst/>
          </a:prstGeom>
        </p:spPr>
      </p:pic>
      <p:sp>
        <p:nvSpPr>
          <p:cNvPr id="6" name="num-0"/>
          <p:cNvSpPr/>
          <p:nvPr/>
        </p:nvSpPr>
        <p:spPr>
          <a:xfrm>
            <a:off x="8503920" y="1618488"/>
            <a:ext cx="384048" cy="384048"/>
          </a:xfrm>
          <a:prstGeom prst="ellipse">
            <a:avLst/>
          </a:prstGeom>
          <a:solidFill>
            <a:schemeClr val="accent2"/>
          </a:solidFill>
          <a:ln/>
        </p:spPr>
      </p:sp>
      <p:sp>
        <p:nvSpPr>
          <p:cNvPr id="7" name="Text 4"/>
          <p:cNvSpPr txBox="1"/>
          <p:nvPr/>
        </p:nvSpPr>
        <p:spPr>
          <a:xfrm>
            <a:off x="8503920" y="1618488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chemeClr val="tx2"/>
                </a:solidFill>
              </a:rPr>
              <a:t>1</a:t>
            </a:r>
            <a:endParaRPr lang="en-US" sz="1400" dirty="0"/>
          </a:p>
        </p:txBody>
      </p:sp>
      <p:sp>
        <p:nvSpPr>
          <p:cNvPr id="8" name="Text 5"/>
          <p:cNvSpPr txBox="1"/>
          <p:nvPr/>
        </p:nvSpPr>
        <p:spPr>
          <a:xfrm>
            <a:off x="9034272" y="1581912"/>
            <a:ext cx="2624328" cy="104698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300"/>
              </a:spcAft>
              <a:buNone/>
            </a:pPr>
            <a:r>
              <a:rPr lang="en-US" sz="1500" b="1" dirty="0">
                <a:solidFill>
                  <a:schemeClr val="tx2"/>
                </a:solidFill>
              </a:rPr>
              <a:t>Editable</a:t>
            </a:r>
            <a:endParaRPr lang="en-US" sz="1500" dirty="0"/>
          </a:p>
          <a:p>
            <a:pPr indent="0" marL="0">
              <a:spcAft>
                <a:spcPts val="300"/>
              </a:spcAft>
              <a:buNone/>
            </a:pPr>
            <a:r>
              <a:rPr lang="en-US" sz="1400" dirty="0">
                <a:solidFill>
                  <a:schemeClr val="tx1"/>
                </a:solidFill>
              </a:rPr>
              <a:t>Título, descripción, estado, fecha límite o plazo en días.</a:t>
            </a:r>
            <a:endParaRPr lang="en-US" sz="1500" dirty="0"/>
          </a:p>
        </p:txBody>
      </p:sp>
      <p:sp>
        <p:nvSpPr>
          <p:cNvPr id="9" name="num-1"/>
          <p:cNvSpPr/>
          <p:nvPr/>
        </p:nvSpPr>
        <p:spPr>
          <a:xfrm>
            <a:off x="8503920" y="2738628"/>
            <a:ext cx="384048" cy="384048"/>
          </a:xfrm>
          <a:prstGeom prst="ellipse">
            <a:avLst/>
          </a:prstGeom>
          <a:solidFill>
            <a:schemeClr val="accent2"/>
          </a:solidFill>
          <a:ln/>
        </p:spPr>
      </p:sp>
      <p:sp>
        <p:nvSpPr>
          <p:cNvPr id="10" name="Text 7"/>
          <p:cNvSpPr txBox="1"/>
          <p:nvPr/>
        </p:nvSpPr>
        <p:spPr>
          <a:xfrm>
            <a:off x="8503920" y="2738628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chemeClr val="tx2"/>
                </a:solidFill>
              </a:rPr>
              <a:t>2</a:t>
            </a:r>
            <a:endParaRPr lang="en-US" sz="1400" dirty="0"/>
          </a:p>
        </p:txBody>
      </p:sp>
      <p:sp>
        <p:nvSpPr>
          <p:cNvPr id="11" name="Text 8"/>
          <p:cNvSpPr txBox="1"/>
          <p:nvPr/>
        </p:nvSpPr>
        <p:spPr>
          <a:xfrm>
            <a:off x="9034272" y="2702052"/>
            <a:ext cx="2624328" cy="104698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300"/>
              </a:spcAft>
              <a:buNone/>
            </a:pPr>
            <a:r>
              <a:rPr lang="en-US" sz="1500" b="1" dirty="0">
                <a:solidFill>
                  <a:schemeClr val="tx2"/>
                </a:solidFill>
              </a:rPr>
              <a:t>Lista de verificación</a:t>
            </a:r>
            <a:endParaRPr lang="en-US" sz="1500" dirty="0"/>
          </a:p>
          <a:p>
            <a:pPr indent="0" marL="0">
              <a:spcAft>
                <a:spcPts val="300"/>
              </a:spcAft>
              <a:buNone/>
            </a:pPr>
            <a:r>
              <a:rPr lang="en-US" sz="1400" dirty="0">
                <a:solidFill>
                  <a:schemeClr val="tx1"/>
                </a:solidFill>
              </a:rPr>
              <a:t>Pasos internos con avance (p. ej. 1/3).</a:t>
            </a:r>
            <a:endParaRPr lang="en-US" sz="1500" dirty="0"/>
          </a:p>
        </p:txBody>
      </p:sp>
      <p:sp>
        <p:nvSpPr>
          <p:cNvPr id="12" name="num-2"/>
          <p:cNvSpPr/>
          <p:nvPr/>
        </p:nvSpPr>
        <p:spPr>
          <a:xfrm>
            <a:off x="8503920" y="3858768"/>
            <a:ext cx="384048" cy="384048"/>
          </a:xfrm>
          <a:prstGeom prst="ellipse">
            <a:avLst/>
          </a:prstGeom>
          <a:solidFill>
            <a:schemeClr val="accent2"/>
          </a:solidFill>
          <a:ln/>
        </p:spPr>
      </p:sp>
      <p:sp>
        <p:nvSpPr>
          <p:cNvPr id="13" name="Text 10"/>
          <p:cNvSpPr txBox="1"/>
          <p:nvPr/>
        </p:nvSpPr>
        <p:spPr>
          <a:xfrm>
            <a:off x="8503920" y="3858768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chemeClr val="tx2"/>
                </a:solidFill>
              </a:rPr>
              <a:t>3</a:t>
            </a:r>
            <a:endParaRPr lang="en-US" sz="1400" dirty="0"/>
          </a:p>
        </p:txBody>
      </p:sp>
      <p:sp>
        <p:nvSpPr>
          <p:cNvPr id="14" name="Text 11"/>
          <p:cNvSpPr txBox="1"/>
          <p:nvPr/>
        </p:nvSpPr>
        <p:spPr>
          <a:xfrm>
            <a:off x="9034272" y="3822192"/>
            <a:ext cx="2624328" cy="104698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300"/>
              </a:spcAft>
              <a:buNone/>
            </a:pPr>
            <a:r>
              <a:rPr lang="en-US" sz="1500" b="1" dirty="0">
                <a:solidFill>
                  <a:schemeClr val="tx2"/>
                </a:solidFill>
              </a:rPr>
              <a:t>Comentarios e historial</a:t>
            </a:r>
            <a:endParaRPr lang="en-US" sz="1500" dirty="0"/>
          </a:p>
          <a:p>
            <a:pPr indent="0" marL="0">
              <a:spcAft>
                <a:spcPts val="300"/>
              </a:spcAft>
              <a:buNone/>
            </a:pPr>
            <a:r>
              <a:rPr lang="en-US" sz="1400" dirty="0">
                <a:solidFill>
                  <a:schemeClr val="tx1"/>
                </a:solidFill>
              </a:rPr>
              <a:t>Registro de cambios, justificaciones y notas.</a:t>
            </a:r>
            <a:endParaRPr lang="en-US" sz="1500" dirty="0"/>
          </a:p>
        </p:txBody>
      </p:sp>
      <p:sp>
        <p:nvSpPr>
          <p:cNvPr id="15" name="num-3"/>
          <p:cNvSpPr/>
          <p:nvPr/>
        </p:nvSpPr>
        <p:spPr>
          <a:xfrm>
            <a:off x="8503920" y="4978908"/>
            <a:ext cx="384048" cy="384048"/>
          </a:xfrm>
          <a:prstGeom prst="ellipse">
            <a:avLst/>
          </a:prstGeom>
          <a:solidFill>
            <a:schemeClr val="accent2"/>
          </a:solidFill>
          <a:ln/>
        </p:spPr>
      </p:sp>
      <p:sp>
        <p:nvSpPr>
          <p:cNvPr id="16" name="Text 13"/>
          <p:cNvSpPr txBox="1"/>
          <p:nvPr/>
        </p:nvSpPr>
        <p:spPr>
          <a:xfrm>
            <a:off x="8503920" y="4978908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chemeClr val="tx2"/>
                </a:solidFill>
              </a:rPr>
              <a:t>4</a:t>
            </a:r>
            <a:endParaRPr lang="en-US" sz="1400" dirty="0"/>
          </a:p>
        </p:txBody>
      </p:sp>
      <p:sp>
        <p:nvSpPr>
          <p:cNvPr id="17" name="Text 14"/>
          <p:cNvSpPr txBox="1"/>
          <p:nvPr/>
        </p:nvSpPr>
        <p:spPr>
          <a:xfrm>
            <a:off x="9034272" y="4942332"/>
            <a:ext cx="2624328" cy="104698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300"/>
              </a:spcAft>
              <a:buNone/>
            </a:pPr>
            <a:r>
              <a:rPr lang="en-US" sz="1500" b="1" dirty="0">
                <a:solidFill>
                  <a:schemeClr val="tx2"/>
                </a:solidFill>
              </a:rPr>
              <a:t>Contexto</a:t>
            </a:r>
            <a:endParaRPr lang="en-US" sz="1500" dirty="0"/>
          </a:p>
          <a:p>
            <a:pPr indent="0" marL="0">
              <a:spcAft>
                <a:spcPts val="300"/>
              </a:spcAft>
              <a:buNone/>
            </a:pPr>
            <a:r>
              <a:rPr lang="en-US" sz="1400" dirty="0">
                <a:solidFill>
                  <a:schemeClr val="tx1"/>
                </a:solidFill>
              </a:rPr>
              <a:t>Color, antecesora/sucesoras y documentos SGD relacionados.</a:t>
            </a:r>
            <a:endParaRPr lang="en-US" sz="15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55680" y="640080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8A97AB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20</a:t>
            </a:fld>
            <a:endParaRPr lang="en-US"/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110642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200" b="1" dirty="0">
                <a:solidFill>
                  <a:schemeClr val="tx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Plazos por definir</a:t>
            </a:r>
            <a:endParaRPr lang="en-US" sz="3200" dirty="0"/>
          </a:p>
        </p:txBody>
      </p:sp>
      <p:sp>
        <p:nvSpPr>
          <p:cNvPr id="3" name="Text 0"/>
          <p:cNvSpPr/>
          <p:nvPr>
            <p:ph idx="101" type="body" hasCustomPrompt="1"/>
          </p:nvPr>
        </p:nvSpPr>
        <p:spPr>
          <a:xfrm>
            <a:off x="548640" y="960120"/>
            <a:ext cx="110642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600" dirty="0">
                <a:solidFill>
                  <a:schemeClr val="accent6"/>
                </a:solidFill>
              </a:rPr>
              <a:t>Defina en bloque las fechas límite pendientes</a:t>
            </a:r>
            <a:endParaRPr lang="en-US" sz="1600" dirty="0"/>
          </a:p>
        </p:txBody>
      </p:sp>
      <p:sp>
        <p:nvSpPr>
          <p:cNvPr id="4" name="marco-p-plazos"/>
          <p:cNvSpPr/>
          <p:nvPr/>
        </p:nvSpPr>
        <p:spPr>
          <a:xfrm>
            <a:off x="548640" y="1554480"/>
            <a:ext cx="7589520" cy="4532630"/>
          </a:xfrm>
          <a:prstGeom prst="rect">
            <a:avLst/>
          </a:prstGeom>
          <a:solidFill>
            <a:srgbClr val="FFFFFF"/>
          </a:solidFill>
          <a:ln w="9525">
            <a:solidFill>
              <a:srgbClr val="D5DBE5"/>
            </a:solidFill>
            <a:prstDash val="solid"/>
          </a:ln>
          <a:effectLst>
            <a:outerShdw sx="100000" sy="100000" kx="0" ky="0" algn="bl" rotWithShape="0" blurRad="101600" dist="25400" dir="5400000">
              <a:srgbClr val="000000">
                <a:alpha val="18000"/>
              </a:srgbClr>
            </a:outerShdw>
          </a:effectLst>
        </p:spPr>
      </p:sp>
      <p:pic>
        <p:nvPicPr>
          <p:cNvPr id="5" name="captura-p-plazos" descr="Captura de pantalla: p-plazos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48640" y="1554480"/>
            <a:ext cx="7589520" cy="4532630"/>
          </a:xfrm>
          <a:prstGeom prst="rect">
            <a:avLst/>
          </a:prstGeom>
        </p:spPr>
      </p:pic>
      <p:sp>
        <p:nvSpPr>
          <p:cNvPr id="6" name="num-0"/>
          <p:cNvSpPr/>
          <p:nvPr/>
        </p:nvSpPr>
        <p:spPr>
          <a:xfrm>
            <a:off x="8503920" y="1618488"/>
            <a:ext cx="384048" cy="384048"/>
          </a:xfrm>
          <a:prstGeom prst="ellipse">
            <a:avLst/>
          </a:prstGeom>
          <a:solidFill>
            <a:schemeClr val="accent2"/>
          </a:solidFill>
          <a:ln/>
        </p:spPr>
      </p:sp>
      <p:sp>
        <p:nvSpPr>
          <p:cNvPr id="7" name="Text 4"/>
          <p:cNvSpPr txBox="1"/>
          <p:nvPr/>
        </p:nvSpPr>
        <p:spPr>
          <a:xfrm>
            <a:off x="8503920" y="1618488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chemeClr val="tx2"/>
                </a:solidFill>
              </a:rPr>
              <a:t>1</a:t>
            </a:r>
            <a:endParaRPr lang="en-US" sz="1400" dirty="0"/>
          </a:p>
        </p:txBody>
      </p:sp>
      <p:sp>
        <p:nvSpPr>
          <p:cNvPr id="8" name="Text 5"/>
          <p:cNvSpPr txBox="1"/>
          <p:nvPr/>
        </p:nvSpPr>
        <p:spPr>
          <a:xfrm>
            <a:off x="9034272" y="1581912"/>
            <a:ext cx="2624328" cy="104698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300"/>
              </a:spcAft>
              <a:buNone/>
            </a:pPr>
            <a:r>
              <a:rPr lang="en-US" sz="1500" b="1" dirty="0">
                <a:solidFill>
                  <a:schemeClr val="tx2"/>
                </a:solidFill>
              </a:rPr>
              <a:t>Fecha exacta o días</a:t>
            </a:r>
            <a:endParaRPr lang="en-US" sz="1500" dirty="0"/>
          </a:p>
          <a:p>
            <a:pPr indent="0" marL="0">
              <a:spcAft>
                <a:spcPts val="300"/>
              </a:spcAft>
              <a:buNone/>
            </a:pPr>
            <a:r>
              <a:rPr lang="en-US" sz="1400" dirty="0">
                <a:solidFill>
                  <a:schemeClr val="tx1"/>
                </a:solidFill>
              </a:rPr>
              <a:t>Fecha notificada (audiencia) o plazo en días hábiles/calendario.</a:t>
            </a:r>
            <a:endParaRPr lang="en-US" sz="1500" dirty="0"/>
          </a:p>
        </p:txBody>
      </p:sp>
      <p:sp>
        <p:nvSpPr>
          <p:cNvPr id="9" name="num-1"/>
          <p:cNvSpPr/>
          <p:nvPr/>
        </p:nvSpPr>
        <p:spPr>
          <a:xfrm>
            <a:off x="8503920" y="2738628"/>
            <a:ext cx="384048" cy="384048"/>
          </a:xfrm>
          <a:prstGeom prst="ellipse">
            <a:avLst/>
          </a:prstGeom>
          <a:solidFill>
            <a:schemeClr val="accent2"/>
          </a:solidFill>
          <a:ln/>
        </p:spPr>
      </p:sp>
      <p:sp>
        <p:nvSpPr>
          <p:cNvPr id="10" name="Text 7"/>
          <p:cNvSpPr txBox="1"/>
          <p:nvPr/>
        </p:nvSpPr>
        <p:spPr>
          <a:xfrm>
            <a:off x="8503920" y="2738628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chemeClr val="tx2"/>
                </a:solidFill>
              </a:rPr>
              <a:t>2</a:t>
            </a:r>
            <a:endParaRPr lang="en-US" sz="1400" dirty="0"/>
          </a:p>
        </p:txBody>
      </p:sp>
      <p:sp>
        <p:nvSpPr>
          <p:cNvPr id="11" name="Text 8"/>
          <p:cNvSpPr txBox="1"/>
          <p:nvPr/>
        </p:nvSpPr>
        <p:spPr>
          <a:xfrm>
            <a:off x="9034272" y="2702052"/>
            <a:ext cx="2624328" cy="104698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300"/>
              </a:spcAft>
              <a:buNone/>
            </a:pPr>
            <a:r>
              <a:rPr lang="en-US" sz="1500" b="1" dirty="0">
                <a:solidFill>
                  <a:schemeClr val="tx2"/>
                </a:solidFill>
              </a:rPr>
              <a:t>Vista previa</a:t>
            </a:r>
            <a:endParaRPr lang="en-US" sz="1500" dirty="0"/>
          </a:p>
          <a:p>
            <a:pPr indent="0" marL="0">
              <a:spcAft>
                <a:spcPts val="300"/>
              </a:spcAft>
              <a:buNone/>
            </a:pPr>
            <a:r>
              <a:rPr lang="en-US" sz="1400" dirty="0">
                <a:solidFill>
                  <a:schemeClr val="tx1"/>
                </a:solidFill>
              </a:rPr>
              <a:t>Muestra el vencimiento resultante antes de guardar.</a:t>
            </a:r>
            <a:endParaRPr lang="en-US" sz="1500" dirty="0"/>
          </a:p>
        </p:txBody>
      </p:sp>
      <p:sp>
        <p:nvSpPr>
          <p:cNvPr id="12" name="num-2"/>
          <p:cNvSpPr/>
          <p:nvPr/>
        </p:nvSpPr>
        <p:spPr>
          <a:xfrm>
            <a:off x="8503920" y="3858768"/>
            <a:ext cx="384048" cy="384048"/>
          </a:xfrm>
          <a:prstGeom prst="ellipse">
            <a:avLst/>
          </a:prstGeom>
          <a:solidFill>
            <a:schemeClr val="accent2"/>
          </a:solidFill>
          <a:ln/>
        </p:spPr>
      </p:sp>
      <p:sp>
        <p:nvSpPr>
          <p:cNvPr id="13" name="Text 10"/>
          <p:cNvSpPr txBox="1"/>
          <p:nvPr/>
        </p:nvSpPr>
        <p:spPr>
          <a:xfrm>
            <a:off x="8503920" y="3858768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chemeClr val="tx2"/>
                </a:solidFill>
              </a:rPr>
              <a:t>3</a:t>
            </a:r>
            <a:endParaRPr lang="en-US" sz="1400" dirty="0"/>
          </a:p>
        </p:txBody>
      </p:sp>
      <p:sp>
        <p:nvSpPr>
          <p:cNvPr id="14" name="Text 11"/>
          <p:cNvSpPr txBox="1"/>
          <p:nvPr/>
        </p:nvSpPr>
        <p:spPr>
          <a:xfrm>
            <a:off x="9034272" y="3822192"/>
            <a:ext cx="2624328" cy="104698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300"/>
              </a:spcAft>
              <a:buNone/>
            </a:pPr>
            <a:r>
              <a:rPr lang="en-US" sz="1500" b="1" dirty="0">
                <a:solidFill>
                  <a:schemeClr val="tx2"/>
                </a:solidFill>
              </a:rPr>
              <a:t>Guardar todos</a:t>
            </a:r>
            <a:endParaRPr lang="en-US" sz="1500" dirty="0"/>
          </a:p>
          <a:p>
            <a:pPr indent="0" marL="0">
              <a:spcAft>
                <a:spcPts val="300"/>
              </a:spcAft>
              <a:buNone/>
            </a:pPr>
            <a:r>
              <a:rPr lang="en-US" sz="1400" dirty="0">
                <a:solidFill>
                  <a:schemeClr val="tx1"/>
                </a:solidFill>
              </a:rPr>
              <a:t>Todos los cambios en una sola operación.</a:t>
            </a:r>
            <a:endParaRPr lang="en-US" sz="1500" dirty="0"/>
          </a:p>
        </p:txBody>
      </p:sp>
      <p:sp>
        <p:nvSpPr>
          <p:cNvPr id="15" name="num-3"/>
          <p:cNvSpPr/>
          <p:nvPr/>
        </p:nvSpPr>
        <p:spPr>
          <a:xfrm>
            <a:off x="8503920" y="4978908"/>
            <a:ext cx="384048" cy="384048"/>
          </a:xfrm>
          <a:prstGeom prst="ellipse">
            <a:avLst/>
          </a:prstGeom>
          <a:solidFill>
            <a:schemeClr val="accent2"/>
          </a:solidFill>
          <a:ln/>
        </p:spPr>
      </p:sp>
      <p:sp>
        <p:nvSpPr>
          <p:cNvPr id="16" name="Text 13"/>
          <p:cNvSpPr txBox="1"/>
          <p:nvPr/>
        </p:nvSpPr>
        <p:spPr>
          <a:xfrm>
            <a:off x="8503920" y="4978908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chemeClr val="tx2"/>
                </a:solidFill>
              </a:rPr>
              <a:t>4</a:t>
            </a:r>
            <a:endParaRPr lang="en-US" sz="1400" dirty="0"/>
          </a:p>
        </p:txBody>
      </p:sp>
      <p:sp>
        <p:nvSpPr>
          <p:cNvPr id="17" name="Text 14"/>
          <p:cNvSpPr txBox="1"/>
          <p:nvPr/>
        </p:nvSpPr>
        <p:spPr>
          <a:xfrm>
            <a:off x="9034272" y="4942332"/>
            <a:ext cx="2624328" cy="104698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300"/>
              </a:spcAft>
              <a:buNone/>
            </a:pPr>
            <a:r>
              <a:rPr lang="en-US" sz="1500" b="1" dirty="0">
                <a:solidFill>
                  <a:schemeClr val="tx2"/>
                </a:solidFill>
              </a:rPr>
              <a:t>Prioridad</a:t>
            </a:r>
            <a:endParaRPr lang="en-US" sz="1500" dirty="0"/>
          </a:p>
          <a:p>
            <a:pPr indent="0" marL="0">
              <a:spcAft>
                <a:spcPts val="300"/>
              </a:spcAft>
              <a:buNone/>
            </a:pPr>
            <a:r>
              <a:rPr lang="en-US" sz="1400" dirty="0">
                <a:solidFill>
                  <a:schemeClr val="tx1"/>
                </a:solidFill>
              </a:rPr>
              <a:t>Resaltadas las solicitadas o con antecesora en curso.</a:t>
            </a:r>
            <a:endParaRPr lang="en-US" sz="15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55680" y="640080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8A97AB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21</a:t>
            </a:fld>
            <a:endParaRPr lang="en-US"/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110642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200" b="1" dirty="0">
                <a:solidFill>
                  <a:schemeClr val="tx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Cómo se controlan los plazos</a:t>
            </a:r>
            <a:endParaRPr lang="en-US" sz="3200" dirty="0"/>
          </a:p>
        </p:txBody>
      </p:sp>
      <p:sp>
        <p:nvSpPr>
          <p:cNvPr id="3" name="Text 0"/>
          <p:cNvSpPr/>
          <p:nvPr>
            <p:ph idx="101" type="body" hasCustomPrompt="1"/>
          </p:nvPr>
        </p:nvSpPr>
        <p:spPr>
          <a:xfrm>
            <a:off x="548640" y="960120"/>
            <a:ext cx="110642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600" dirty="0">
                <a:solidFill>
                  <a:schemeClr val="accent6"/>
                </a:solidFill>
              </a:rPr>
              <a:t>Los plazos que dependen del juzgado se definen sobre la marcha, con alertas escalonadas</a:t>
            </a:r>
            <a:endParaRPr lang="en-US" sz="1600" dirty="0"/>
          </a:p>
        </p:txBody>
      </p:sp>
      <p:sp>
        <p:nvSpPr>
          <p:cNvPr id="4" name="fase-0"/>
          <p:cNvSpPr/>
          <p:nvPr/>
        </p:nvSpPr>
        <p:spPr>
          <a:xfrm>
            <a:off x="548640" y="1737360"/>
            <a:ext cx="2606040" cy="2926080"/>
          </a:xfrm>
          <a:prstGeom prst="roundRect">
            <a:avLst>
              <a:gd name="adj" fmla="val 3509"/>
            </a:avLst>
          </a:prstGeom>
          <a:solidFill>
            <a:srgbClr val="F2F4F8"/>
          </a:solidFill>
          <a:ln/>
        </p:spPr>
      </p:sp>
      <p:sp>
        <p:nvSpPr>
          <p:cNvPr id="5" name="Shape 3"/>
          <p:cNvSpPr/>
          <p:nvPr/>
        </p:nvSpPr>
        <p:spPr>
          <a:xfrm>
            <a:off x="777240" y="1965960"/>
            <a:ext cx="548640" cy="548640"/>
          </a:xfrm>
          <a:prstGeom prst="ellipse">
            <a:avLst/>
          </a:prstGeom>
          <a:solidFill>
            <a:srgbClr val="5B6B82"/>
          </a:solidFill>
          <a:ln/>
        </p:spPr>
      </p:sp>
      <p:sp>
        <p:nvSpPr>
          <p:cNvPr id="6" name="Text 4"/>
          <p:cNvSpPr txBox="1"/>
          <p:nvPr/>
        </p:nvSpPr>
        <p:spPr>
          <a:xfrm>
            <a:off x="777240" y="1965960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</a:rPr>
              <a:t>1</a:t>
            </a:r>
            <a:endParaRPr lang="en-US" sz="1800" dirty="0"/>
          </a:p>
        </p:txBody>
      </p:sp>
      <p:sp>
        <p:nvSpPr>
          <p:cNvPr id="7" name="Text 5"/>
          <p:cNvSpPr txBox="1"/>
          <p:nvPr/>
        </p:nvSpPr>
        <p:spPr>
          <a:xfrm>
            <a:off x="777240" y="2697480"/>
            <a:ext cx="21945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14305A"/>
                </a:solidFill>
              </a:rPr>
              <a:t>Plantilla</a:t>
            </a:r>
            <a:endParaRPr lang="en-US" sz="1700" dirty="0"/>
          </a:p>
        </p:txBody>
      </p:sp>
      <p:sp>
        <p:nvSpPr>
          <p:cNvPr id="8" name="Text 6"/>
          <p:cNvSpPr txBox="1"/>
          <p:nvPr/>
        </p:nvSpPr>
        <p:spPr>
          <a:xfrm>
            <a:off x="777240" y="3200400"/>
            <a:ext cx="219456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1B2433"/>
                </a:solidFill>
              </a:rPr>
              <a:t>Cada tarea tiene plazo fijo (días hábiles o calendario) o queda «por definir».</a:t>
            </a:r>
            <a:endParaRPr lang="en-US" sz="1400" dirty="0"/>
          </a:p>
        </p:txBody>
      </p:sp>
      <p:sp>
        <p:nvSpPr>
          <p:cNvPr id="9" name="fase-1"/>
          <p:cNvSpPr/>
          <p:nvPr/>
        </p:nvSpPr>
        <p:spPr>
          <a:xfrm>
            <a:off x="3383280" y="1737360"/>
            <a:ext cx="2606040" cy="2926080"/>
          </a:xfrm>
          <a:prstGeom prst="roundRect">
            <a:avLst>
              <a:gd name="adj" fmla="val 3509"/>
            </a:avLst>
          </a:prstGeom>
          <a:solidFill>
            <a:srgbClr val="F2F4F8"/>
          </a:solidFill>
          <a:ln/>
        </p:spPr>
      </p:sp>
      <p:sp>
        <p:nvSpPr>
          <p:cNvPr id="10" name="Shape 8"/>
          <p:cNvSpPr/>
          <p:nvPr/>
        </p:nvSpPr>
        <p:spPr>
          <a:xfrm>
            <a:off x="3611880" y="1965960"/>
            <a:ext cx="548640" cy="548640"/>
          </a:xfrm>
          <a:prstGeom prst="ellipse">
            <a:avLst/>
          </a:prstGeom>
          <a:solidFill>
            <a:srgbClr val="E8A317"/>
          </a:solidFill>
          <a:ln/>
        </p:spPr>
      </p:sp>
      <p:sp>
        <p:nvSpPr>
          <p:cNvPr id="11" name="Text 9"/>
          <p:cNvSpPr txBox="1"/>
          <p:nvPr/>
        </p:nvSpPr>
        <p:spPr>
          <a:xfrm>
            <a:off x="3611880" y="1965960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</a:rPr>
              <a:t>2</a:t>
            </a:r>
            <a:endParaRPr lang="en-US" sz="1800" dirty="0"/>
          </a:p>
        </p:txBody>
      </p:sp>
      <p:sp>
        <p:nvSpPr>
          <p:cNvPr id="12" name="Text 10"/>
          <p:cNvSpPr txBox="1"/>
          <p:nvPr/>
        </p:nvSpPr>
        <p:spPr>
          <a:xfrm>
            <a:off x="3611880" y="2697480"/>
            <a:ext cx="21945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14305A"/>
                </a:solidFill>
              </a:rPr>
              <a:t>Antecesora en proceso</a:t>
            </a:r>
            <a:endParaRPr lang="en-US" sz="1700" dirty="0"/>
          </a:p>
        </p:txBody>
      </p:sp>
      <p:sp>
        <p:nvSpPr>
          <p:cNvPr id="13" name="Text 11"/>
          <p:cNvSpPr txBox="1"/>
          <p:nvPr/>
        </p:nvSpPr>
        <p:spPr>
          <a:xfrm>
            <a:off x="3611880" y="3200400"/>
            <a:ext cx="219456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1B2433"/>
                </a:solidFill>
              </a:rPr>
              <a:t>La sucesora sin plazo genera alerta «plazo no definido» (media).</a:t>
            </a:r>
            <a:endParaRPr lang="en-US" sz="1400" dirty="0"/>
          </a:p>
        </p:txBody>
      </p:sp>
      <p:sp>
        <p:nvSpPr>
          <p:cNvPr id="14" name="fase-2"/>
          <p:cNvSpPr/>
          <p:nvPr/>
        </p:nvSpPr>
        <p:spPr>
          <a:xfrm>
            <a:off x="6217920" y="1737360"/>
            <a:ext cx="2606040" cy="2926080"/>
          </a:xfrm>
          <a:prstGeom prst="roundRect">
            <a:avLst>
              <a:gd name="adj" fmla="val 3509"/>
            </a:avLst>
          </a:prstGeom>
          <a:solidFill>
            <a:srgbClr val="F2F4F8"/>
          </a:solidFill>
          <a:ln/>
        </p:spPr>
      </p:sp>
      <p:sp>
        <p:nvSpPr>
          <p:cNvPr id="15" name="Shape 13"/>
          <p:cNvSpPr/>
          <p:nvPr/>
        </p:nvSpPr>
        <p:spPr>
          <a:xfrm>
            <a:off x="6446520" y="1965960"/>
            <a:ext cx="548640" cy="548640"/>
          </a:xfrm>
          <a:prstGeom prst="ellipse">
            <a:avLst/>
          </a:prstGeom>
          <a:solidFill>
            <a:srgbClr val="C0392B"/>
          </a:solidFill>
          <a:ln/>
        </p:spPr>
      </p:sp>
      <p:sp>
        <p:nvSpPr>
          <p:cNvPr id="16" name="Text 14"/>
          <p:cNvSpPr txBox="1"/>
          <p:nvPr/>
        </p:nvSpPr>
        <p:spPr>
          <a:xfrm>
            <a:off x="6446520" y="1965960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</a:rPr>
              <a:t>3</a:t>
            </a:r>
            <a:endParaRPr lang="en-US" sz="1800" dirty="0"/>
          </a:p>
        </p:txBody>
      </p:sp>
      <p:sp>
        <p:nvSpPr>
          <p:cNvPr id="17" name="Text 15"/>
          <p:cNvSpPr txBox="1"/>
          <p:nvPr/>
        </p:nvSpPr>
        <p:spPr>
          <a:xfrm>
            <a:off x="6446520" y="2697480"/>
            <a:ext cx="21945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14305A"/>
                </a:solidFill>
              </a:rPr>
              <a:t>Antecesora finalizada</a:t>
            </a:r>
            <a:endParaRPr lang="en-US" sz="1700" dirty="0"/>
          </a:p>
        </p:txBody>
      </p:sp>
      <p:sp>
        <p:nvSpPr>
          <p:cNvPr id="18" name="Text 16"/>
          <p:cNvSpPr txBox="1"/>
          <p:nvPr/>
        </p:nvSpPr>
        <p:spPr>
          <a:xfrm>
            <a:off x="6446520" y="3200400"/>
            <a:ext cx="219456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1B2433"/>
                </a:solidFill>
              </a:rPr>
              <a:t>Alerta alta; crítica si pasan N días hábiles sin plazo. Ficha en rojo.</a:t>
            </a:r>
            <a:endParaRPr lang="en-US" sz="1400" dirty="0"/>
          </a:p>
        </p:txBody>
      </p:sp>
      <p:sp>
        <p:nvSpPr>
          <p:cNvPr id="19" name="fase-3"/>
          <p:cNvSpPr/>
          <p:nvPr/>
        </p:nvSpPr>
        <p:spPr>
          <a:xfrm>
            <a:off x="9052560" y="1737360"/>
            <a:ext cx="2606040" cy="2926080"/>
          </a:xfrm>
          <a:prstGeom prst="roundRect">
            <a:avLst>
              <a:gd name="adj" fmla="val 3509"/>
            </a:avLst>
          </a:prstGeom>
          <a:solidFill>
            <a:srgbClr val="F2F4F8"/>
          </a:solidFill>
          <a:ln/>
        </p:spPr>
      </p:sp>
      <p:sp>
        <p:nvSpPr>
          <p:cNvPr id="20" name="Shape 18"/>
          <p:cNvSpPr/>
          <p:nvPr/>
        </p:nvSpPr>
        <p:spPr>
          <a:xfrm>
            <a:off x="9281160" y="1965960"/>
            <a:ext cx="548640" cy="548640"/>
          </a:xfrm>
          <a:prstGeom prst="ellipse">
            <a:avLst/>
          </a:prstGeom>
          <a:solidFill>
            <a:srgbClr val="2E8B57"/>
          </a:solidFill>
          <a:ln/>
        </p:spPr>
      </p:sp>
      <p:sp>
        <p:nvSpPr>
          <p:cNvPr id="21" name="Text 19"/>
          <p:cNvSpPr txBox="1"/>
          <p:nvPr/>
        </p:nvSpPr>
        <p:spPr>
          <a:xfrm>
            <a:off x="9281160" y="1965960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</a:rPr>
              <a:t>4</a:t>
            </a:r>
            <a:endParaRPr lang="en-US" sz="1800" dirty="0"/>
          </a:p>
        </p:txBody>
      </p:sp>
      <p:sp>
        <p:nvSpPr>
          <p:cNvPr id="22" name="Text 20"/>
          <p:cNvSpPr txBox="1"/>
          <p:nvPr/>
        </p:nvSpPr>
        <p:spPr>
          <a:xfrm>
            <a:off x="9281160" y="2697480"/>
            <a:ext cx="21945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14305A"/>
                </a:solidFill>
              </a:rPr>
              <a:t>Plazo definido</a:t>
            </a:r>
            <a:endParaRPr lang="en-US" sz="1700" dirty="0"/>
          </a:p>
        </p:txBody>
      </p:sp>
      <p:sp>
        <p:nvSpPr>
          <p:cNvPr id="23" name="Text 21"/>
          <p:cNvSpPr txBox="1"/>
          <p:nvPr/>
        </p:nvSpPr>
        <p:spPr>
          <a:xfrm>
            <a:off x="9281160" y="3200400"/>
            <a:ext cx="219456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1B2433"/>
                </a:solidFill>
              </a:rPr>
              <a:t>El abogado lo define en Plazos por definir y la alerta se cierra sola.</a:t>
            </a:r>
            <a:endParaRPr lang="en-US" sz="1400" dirty="0"/>
          </a:p>
        </p:txBody>
      </p:sp>
      <p:sp>
        <p:nvSpPr>
          <p:cNvPr id="24" name="Text 22"/>
          <p:cNvSpPr txBox="1"/>
          <p:nvPr/>
        </p:nvSpPr>
        <p:spPr>
          <a:xfrm>
            <a:off x="548640" y="4983480"/>
            <a:ext cx="1106424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b="1" dirty="0">
                <a:solidFill>
                  <a:srgbClr val="14305A"/>
                </a:solidFill>
              </a:rPr>
              <a:t>Días hábiles: </a:t>
            </a:r>
            <a:pPr indent="0" marL="0">
              <a:buNone/>
            </a:pPr>
            <a:r>
              <a:rPr lang="en-US" sz="1500" dirty="0">
                <a:solidFill>
                  <a:srgbClr val="1B2433"/>
                </a:solidFill>
              </a:rPr>
              <a:t>lunes a viernes, sin feriados nacionales del Perú (incluidos Jueves y Viernes Santo) ni los días no laborables registrados. La Gerencia o el asistente pueden solicitar la definición del plazo en cualquier momento.</a:t>
            </a:r>
            <a:endParaRPr lang="en-US" sz="15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55680" y="640080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8A97AB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22</a:t>
            </a:fld>
            <a:endParaRPr lang="en-US"/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110642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200" b="1" dirty="0">
                <a:solidFill>
                  <a:schemeClr val="tx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Alertas del Profesional</a:t>
            </a:r>
            <a:endParaRPr lang="en-US" sz="3200" dirty="0"/>
          </a:p>
        </p:txBody>
      </p:sp>
      <p:sp>
        <p:nvSpPr>
          <p:cNvPr id="3" name="Text 0"/>
          <p:cNvSpPr/>
          <p:nvPr>
            <p:ph idx="101" type="body" hasCustomPrompt="1"/>
          </p:nvPr>
        </p:nvSpPr>
        <p:spPr>
          <a:xfrm>
            <a:off x="548640" y="960120"/>
            <a:ext cx="110642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600" dirty="0">
                <a:solidFill>
                  <a:schemeClr val="accent6"/>
                </a:solidFill>
              </a:rPr>
              <a:t>Lo que requiere su acción, por prioridad</a:t>
            </a:r>
            <a:endParaRPr lang="en-US" sz="1600" dirty="0"/>
          </a:p>
        </p:txBody>
      </p:sp>
      <p:sp>
        <p:nvSpPr>
          <p:cNvPr id="4" name="marco-p-alertas"/>
          <p:cNvSpPr/>
          <p:nvPr/>
        </p:nvSpPr>
        <p:spPr>
          <a:xfrm>
            <a:off x="548640" y="1554480"/>
            <a:ext cx="7589520" cy="4532630"/>
          </a:xfrm>
          <a:prstGeom prst="rect">
            <a:avLst/>
          </a:prstGeom>
          <a:solidFill>
            <a:srgbClr val="FFFFFF"/>
          </a:solidFill>
          <a:ln w="9525">
            <a:solidFill>
              <a:srgbClr val="D5DBE5"/>
            </a:solidFill>
            <a:prstDash val="solid"/>
          </a:ln>
          <a:effectLst>
            <a:outerShdw sx="100000" sy="100000" kx="0" ky="0" algn="bl" rotWithShape="0" blurRad="101600" dist="25400" dir="5400000">
              <a:srgbClr val="000000">
                <a:alpha val="18000"/>
              </a:srgbClr>
            </a:outerShdw>
          </a:effectLst>
        </p:spPr>
      </p:sp>
      <p:pic>
        <p:nvPicPr>
          <p:cNvPr id="5" name="captura-p-alertas" descr="Captura de pantalla: p-alertas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48640" y="1554480"/>
            <a:ext cx="7589520" cy="4532630"/>
          </a:xfrm>
          <a:prstGeom prst="rect">
            <a:avLst/>
          </a:prstGeom>
        </p:spPr>
      </p:pic>
      <p:sp>
        <p:nvSpPr>
          <p:cNvPr id="6" name="num-0"/>
          <p:cNvSpPr/>
          <p:nvPr/>
        </p:nvSpPr>
        <p:spPr>
          <a:xfrm>
            <a:off x="8503920" y="1618488"/>
            <a:ext cx="384048" cy="384048"/>
          </a:xfrm>
          <a:prstGeom prst="ellipse">
            <a:avLst/>
          </a:prstGeom>
          <a:solidFill>
            <a:schemeClr val="accent2"/>
          </a:solidFill>
          <a:ln/>
        </p:spPr>
      </p:sp>
      <p:sp>
        <p:nvSpPr>
          <p:cNvPr id="7" name="Text 4"/>
          <p:cNvSpPr txBox="1"/>
          <p:nvPr/>
        </p:nvSpPr>
        <p:spPr>
          <a:xfrm>
            <a:off x="8503920" y="1618488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chemeClr val="tx2"/>
                </a:solidFill>
              </a:rPr>
              <a:t>1</a:t>
            </a:r>
            <a:endParaRPr lang="en-US" sz="1400" dirty="0"/>
          </a:p>
        </p:txBody>
      </p:sp>
      <p:sp>
        <p:nvSpPr>
          <p:cNvPr id="8" name="Text 5"/>
          <p:cNvSpPr txBox="1"/>
          <p:nvPr/>
        </p:nvSpPr>
        <p:spPr>
          <a:xfrm>
            <a:off x="9034272" y="1581912"/>
            <a:ext cx="2624328" cy="104698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300"/>
              </a:spcAft>
              <a:buNone/>
            </a:pPr>
            <a:r>
              <a:rPr lang="en-US" sz="1500" b="1" dirty="0">
                <a:solidFill>
                  <a:schemeClr val="tx2"/>
                </a:solidFill>
              </a:rPr>
              <a:t>Sus alertas</a:t>
            </a:r>
            <a:endParaRPr lang="en-US" sz="1500" dirty="0"/>
          </a:p>
          <a:p>
            <a:pPr indent="0" marL="0">
              <a:spcAft>
                <a:spcPts val="300"/>
              </a:spcAft>
              <a:buNone/>
            </a:pPr>
            <a:r>
              <a:rPr lang="en-US" sz="1400" dirty="0">
                <a:solidFill>
                  <a:schemeClr val="tx1"/>
                </a:solidFill>
              </a:rPr>
              <a:t>Vencidas, por vencer, sin plazo, sin movimiento, plantilla observada.</a:t>
            </a:r>
            <a:endParaRPr lang="en-US" sz="1500" dirty="0"/>
          </a:p>
        </p:txBody>
      </p:sp>
      <p:sp>
        <p:nvSpPr>
          <p:cNvPr id="9" name="num-1"/>
          <p:cNvSpPr/>
          <p:nvPr/>
        </p:nvSpPr>
        <p:spPr>
          <a:xfrm>
            <a:off x="8503920" y="2738628"/>
            <a:ext cx="384048" cy="384048"/>
          </a:xfrm>
          <a:prstGeom prst="ellipse">
            <a:avLst/>
          </a:prstGeom>
          <a:solidFill>
            <a:schemeClr val="accent2"/>
          </a:solidFill>
          <a:ln/>
        </p:spPr>
      </p:sp>
      <p:sp>
        <p:nvSpPr>
          <p:cNvPr id="10" name="Text 7"/>
          <p:cNvSpPr txBox="1"/>
          <p:nvPr/>
        </p:nvSpPr>
        <p:spPr>
          <a:xfrm>
            <a:off x="8503920" y="2738628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chemeClr val="tx2"/>
                </a:solidFill>
              </a:rPr>
              <a:t>2</a:t>
            </a:r>
            <a:endParaRPr lang="en-US" sz="1400" dirty="0"/>
          </a:p>
        </p:txBody>
      </p:sp>
      <p:sp>
        <p:nvSpPr>
          <p:cNvPr id="11" name="Text 8"/>
          <p:cNvSpPr txBox="1"/>
          <p:nvPr/>
        </p:nvSpPr>
        <p:spPr>
          <a:xfrm>
            <a:off x="9034272" y="2702052"/>
            <a:ext cx="2624328" cy="104698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300"/>
              </a:spcAft>
              <a:buNone/>
            </a:pPr>
            <a:r>
              <a:rPr lang="en-US" sz="1500" b="1" dirty="0">
                <a:solidFill>
                  <a:schemeClr val="tx2"/>
                </a:solidFill>
              </a:rPr>
              <a:t>Solicitudes de plazo</a:t>
            </a:r>
            <a:endParaRPr lang="en-US" sz="1500" dirty="0"/>
          </a:p>
          <a:p>
            <a:pPr indent="0" marL="0">
              <a:spcAft>
                <a:spcPts val="300"/>
              </a:spcAft>
              <a:buNone/>
            </a:pPr>
            <a:r>
              <a:rPr lang="en-US" sz="1400" dirty="0">
                <a:solidFill>
                  <a:schemeClr val="tx1"/>
                </a:solidFill>
              </a:rPr>
              <a:t>Pedidos del asistente o de la Gerencia, con su mensaje.</a:t>
            </a:r>
            <a:endParaRPr lang="en-US" sz="1500" dirty="0"/>
          </a:p>
        </p:txBody>
      </p:sp>
      <p:sp>
        <p:nvSpPr>
          <p:cNvPr id="12" name="num-2"/>
          <p:cNvSpPr/>
          <p:nvPr/>
        </p:nvSpPr>
        <p:spPr>
          <a:xfrm>
            <a:off x="8503920" y="3858768"/>
            <a:ext cx="384048" cy="384048"/>
          </a:xfrm>
          <a:prstGeom prst="ellipse">
            <a:avLst/>
          </a:prstGeom>
          <a:solidFill>
            <a:schemeClr val="accent2"/>
          </a:solidFill>
          <a:ln/>
        </p:spPr>
      </p:sp>
      <p:sp>
        <p:nvSpPr>
          <p:cNvPr id="13" name="Text 10"/>
          <p:cNvSpPr txBox="1"/>
          <p:nvPr/>
        </p:nvSpPr>
        <p:spPr>
          <a:xfrm>
            <a:off x="8503920" y="3858768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chemeClr val="tx2"/>
                </a:solidFill>
              </a:rPr>
              <a:t>3</a:t>
            </a:r>
            <a:endParaRPr lang="en-US" sz="1400" dirty="0"/>
          </a:p>
        </p:txBody>
      </p:sp>
      <p:sp>
        <p:nvSpPr>
          <p:cNvPr id="14" name="Text 11"/>
          <p:cNvSpPr txBox="1"/>
          <p:nvPr/>
        </p:nvSpPr>
        <p:spPr>
          <a:xfrm>
            <a:off x="9034272" y="3822192"/>
            <a:ext cx="2624328" cy="104698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300"/>
              </a:spcAft>
              <a:buNone/>
            </a:pPr>
            <a:r>
              <a:rPr lang="en-US" sz="1500" b="1" dirty="0">
                <a:solidFill>
                  <a:schemeClr val="tx2"/>
                </a:solidFill>
              </a:rPr>
              <a:t>Nuevo documento SGD</a:t>
            </a:r>
            <a:endParaRPr lang="en-US" sz="1500" dirty="0"/>
          </a:p>
          <a:p>
            <a:pPr indent="0" marL="0">
              <a:spcAft>
                <a:spcPts val="300"/>
              </a:spcAft>
              <a:buNone/>
            </a:pPr>
            <a:r>
              <a:rPr lang="en-US" sz="1400" dirty="0">
                <a:solidFill>
                  <a:schemeClr val="tx1"/>
                </a:solidFill>
              </a:rPr>
              <a:t>Aviso cuando un tercero anexa un trámite a su proceso.</a:t>
            </a:r>
            <a:endParaRPr lang="en-US" sz="1500" dirty="0"/>
          </a:p>
        </p:txBody>
      </p:sp>
      <p:sp>
        <p:nvSpPr>
          <p:cNvPr id="15" name="num-3"/>
          <p:cNvSpPr/>
          <p:nvPr/>
        </p:nvSpPr>
        <p:spPr>
          <a:xfrm>
            <a:off x="8503920" y="4978908"/>
            <a:ext cx="384048" cy="384048"/>
          </a:xfrm>
          <a:prstGeom prst="ellipse">
            <a:avLst/>
          </a:prstGeom>
          <a:solidFill>
            <a:schemeClr val="accent2"/>
          </a:solidFill>
          <a:ln/>
        </p:spPr>
      </p:sp>
      <p:sp>
        <p:nvSpPr>
          <p:cNvPr id="16" name="Text 13"/>
          <p:cNvSpPr txBox="1"/>
          <p:nvPr/>
        </p:nvSpPr>
        <p:spPr>
          <a:xfrm>
            <a:off x="8503920" y="4978908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chemeClr val="tx2"/>
                </a:solidFill>
              </a:rPr>
              <a:t>4</a:t>
            </a:r>
            <a:endParaRPr lang="en-US" sz="1400" dirty="0"/>
          </a:p>
        </p:txBody>
      </p:sp>
      <p:sp>
        <p:nvSpPr>
          <p:cNvPr id="17" name="Text 14"/>
          <p:cNvSpPr txBox="1"/>
          <p:nvPr/>
        </p:nvSpPr>
        <p:spPr>
          <a:xfrm>
            <a:off x="9034272" y="4942332"/>
            <a:ext cx="2624328" cy="104698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300"/>
              </a:spcAft>
              <a:buNone/>
            </a:pPr>
            <a:r>
              <a:rPr lang="en-US" sz="1500" b="1" dirty="0">
                <a:solidFill>
                  <a:schemeClr val="tx2"/>
                </a:solidFill>
              </a:rPr>
              <a:t>Acción directa</a:t>
            </a:r>
            <a:endParaRPr lang="en-US" sz="1500" dirty="0"/>
          </a:p>
          <a:p>
            <a:pPr indent="0" marL="0">
              <a:spcAft>
                <a:spcPts val="300"/>
              </a:spcAft>
              <a:buNone/>
            </a:pPr>
            <a:r>
              <a:rPr lang="en-US" sz="1400" dirty="0">
                <a:solidFill>
                  <a:schemeClr val="tx1"/>
                </a:solidFill>
              </a:rPr>
              <a:t>Abrir la tarea, ver el proceso o ir a definir el plazo.</a:t>
            </a:r>
            <a:endParaRPr lang="en-US" sz="15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55680" y="640080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8A97AB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23</a:t>
            </a:fld>
            <a:endParaRPr lang="en-US"/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110642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200" b="1" dirty="0">
                <a:solidFill>
                  <a:schemeClr val="tx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Mis plantillas</a:t>
            </a:r>
            <a:endParaRPr lang="en-US" sz="3200" dirty="0"/>
          </a:p>
        </p:txBody>
      </p:sp>
      <p:sp>
        <p:nvSpPr>
          <p:cNvPr id="3" name="Text 0"/>
          <p:cNvSpPr/>
          <p:nvPr>
            <p:ph idx="101" type="body" hasCustomPrompt="1"/>
          </p:nvPr>
        </p:nvSpPr>
        <p:spPr>
          <a:xfrm>
            <a:off x="548640" y="960120"/>
            <a:ext cx="110642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600" dirty="0">
                <a:solidFill>
                  <a:schemeClr val="accent6"/>
                </a:solidFill>
              </a:rPr>
              <a:t>Su ciclo de tareas por vía procedimental, sujeto a aprobación</a:t>
            </a:r>
            <a:endParaRPr lang="en-US" sz="1600" dirty="0"/>
          </a:p>
        </p:txBody>
      </p:sp>
      <p:sp>
        <p:nvSpPr>
          <p:cNvPr id="4" name="marco-p2-plantillas"/>
          <p:cNvSpPr/>
          <p:nvPr/>
        </p:nvSpPr>
        <p:spPr>
          <a:xfrm>
            <a:off x="548640" y="1554480"/>
            <a:ext cx="7589520" cy="4532630"/>
          </a:xfrm>
          <a:prstGeom prst="rect">
            <a:avLst/>
          </a:prstGeom>
          <a:solidFill>
            <a:srgbClr val="FFFFFF"/>
          </a:solidFill>
          <a:ln w="9525">
            <a:solidFill>
              <a:srgbClr val="D5DBE5"/>
            </a:solidFill>
            <a:prstDash val="solid"/>
          </a:ln>
          <a:effectLst>
            <a:outerShdw sx="100000" sy="100000" kx="0" ky="0" algn="bl" rotWithShape="0" blurRad="101600" dist="25400" dir="5400000">
              <a:srgbClr val="000000">
                <a:alpha val="18000"/>
              </a:srgbClr>
            </a:outerShdw>
          </a:effectLst>
        </p:spPr>
      </p:sp>
      <p:pic>
        <p:nvPicPr>
          <p:cNvPr id="5" name="captura-p2-plantillas" descr="Captura de pantalla: p2-plantillas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48640" y="1554480"/>
            <a:ext cx="7589520" cy="4532630"/>
          </a:xfrm>
          <a:prstGeom prst="rect">
            <a:avLst/>
          </a:prstGeom>
        </p:spPr>
      </p:pic>
      <p:sp>
        <p:nvSpPr>
          <p:cNvPr id="6" name="num-0"/>
          <p:cNvSpPr/>
          <p:nvPr/>
        </p:nvSpPr>
        <p:spPr>
          <a:xfrm>
            <a:off x="8503920" y="1618488"/>
            <a:ext cx="384048" cy="384048"/>
          </a:xfrm>
          <a:prstGeom prst="ellipse">
            <a:avLst/>
          </a:prstGeom>
          <a:solidFill>
            <a:schemeClr val="accent2"/>
          </a:solidFill>
          <a:ln/>
        </p:spPr>
      </p:sp>
      <p:sp>
        <p:nvSpPr>
          <p:cNvPr id="7" name="Text 4"/>
          <p:cNvSpPr txBox="1"/>
          <p:nvPr/>
        </p:nvSpPr>
        <p:spPr>
          <a:xfrm>
            <a:off x="8503920" y="1618488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chemeClr val="tx2"/>
                </a:solidFill>
              </a:rPr>
              <a:t>1</a:t>
            </a:r>
            <a:endParaRPr lang="en-US" sz="1400" dirty="0"/>
          </a:p>
        </p:txBody>
      </p:sp>
      <p:sp>
        <p:nvSpPr>
          <p:cNvPr id="8" name="Text 5"/>
          <p:cNvSpPr txBox="1"/>
          <p:nvPr/>
        </p:nvSpPr>
        <p:spPr>
          <a:xfrm>
            <a:off x="9034272" y="1581912"/>
            <a:ext cx="2624328" cy="104698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300"/>
              </a:spcAft>
              <a:buNone/>
            </a:pPr>
            <a:r>
              <a:rPr lang="en-US" sz="1500" b="1" dirty="0">
                <a:solidFill>
                  <a:schemeClr val="tx2"/>
                </a:solidFill>
              </a:rPr>
              <a:t>Una por vía</a:t>
            </a:r>
            <a:endParaRPr lang="en-US" sz="1500" dirty="0"/>
          </a:p>
          <a:p>
            <a:pPr indent="0" marL="0">
              <a:spcAft>
                <a:spcPts val="300"/>
              </a:spcAft>
              <a:buNone/>
            </a:pPr>
            <a:r>
              <a:rPr lang="en-US" sz="1400" dirty="0">
                <a:solidFill>
                  <a:schemeClr val="tx1"/>
                </a:solidFill>
              </a:rPr>
              <a:t>Ej.: Civil › Proceso de conocimiento.</a:t>
            </a:r>
            <a:endParaRPr lang="en-US" sz="1500" dirty="0"/>
          </a:p>
        </p:txBody>
      </p:sp>
      <p:sp>
        <p:nvSpPr>
          <p:cNvPr id="9" name="num-1"/>
          <p:cNvSpPr/>
          <p:nvPr/>
        </p:nvSpPr>
        <p:spPr>
          <a:xfrm>
            <a:off x="8503920" y="2738628"/>
            <a:ext cx="384048" cy="384048"/>
          </a:xfrm>
          <a:prstGeom prst="ellipse">
            <a:avLst/>
          </a:prstGeom>
          <a:solidFill>
            <a:schemeClr val="accent2"/>
          </a:solidFill>
          <a:ln/>
        </p:spPr>
      </p:sp>
      <p:sp>
        <p:nvSpPr>
          <p:cNvPr id="10" name="Text 7"/>
          <p:cNvSpPr txBox="1"/>
          <p:nvPr/>
        </p:nvSpPr>
        <p:spPr>
          <a:xfrm>
            <a:off x="8503920" y="2738628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chemeClr val="tx2"/>
                </a:solidFill>
              </a:rPr>
              <a:t>2</a:t>
            </a:r>
            <a:endParaRPr lang="en-US" sz="1400" dirty="0"/>
          </a:p>
        </p:txBody>
      </p:sp>
      <p:sp>
        <p:nvSpPr>
          <p:cNvPr id="11" name="Text 8"/>
          <p:cNvSpPr txBox="1"/>
          <p:nvPr/>
        </p:nvSpPr>
        <p:spPr>
          <a:xfrm>
            <a:off x="9034272" y="2702052"/>
            <a:ext cx="2624328" cy="104698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300"/>
              </a:spcAft>
              <a:buNone/>
            </a:pPr>
            <a:r>
              <a:rPr lang="en-US" sz="1500" b="1" dirty="0">
                <a:solidFill>
                  <a:schemeClr val="tx2"/>
                </a:solidFill>
              </a:rPr>
              <a:t>Estados</a:t>
            </a:r>
            <a:endParaRPr lang="en-US" sz="1500" dirty="0"/>
          </a:p>
          <a:p>
            <a:pPr indent="0" marL="0">
              <a:spcAft>
                <a:spcPts val="300"/>
              </a:spcAft>
              <a:buNone/>
            </a:pPr>
            <a:r>
              <a:rPr lang="en-US" sz="1400" dirty="0">
                <a:solidFill>
                  <a:schemeClr val="tx1"/>
                </a:solidFill>
              </a:rPr>
              <a:t>Aprobada · Por aprobar · Observada (con la observación).</a:t>
            </a:r>
            <a:endParaRPr lang="en-US" sz="1500" dirty="0"/>
          </a:p>
        </p:txBody>
      </p:sp>
      <p:sp>
        <p:nvSpPr>
          <p:cNvPr id="12" name="num-2"/>
          <p:cNvSpPr/>
          <p:nvPr/>
        </p:nvSpPr>
        <p:spPr>
          <a:xfrm>
            <a:off x="8503920" y="3858768"/>
            <a:ext cx="384048" cy="384048"/>
          </a:xfrm>
          <a:prstGeom prst="ellipse">
            <a:avLst/>
          </a:prstGeom>
          <a:solidFill>
            <a:schemeClr val="accent2"/>
          </a:solidFill>
          <a:ln/>
        </p:spPr>
      </p:sp>
      <p:sp>
        <p:nvSpPr>
          <p:cNvPr id="13" name="Text 10"/>
          <p:cNvSpPr txBox="1"/>
          <p:nvPr/>
        </p:nvSpPr>
        <p:spPr>
          <a:xfrm>
            <a:off x="8503920" y="3858768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chemeClr val="tx2"/>
                </a:solidFill>
              </a:rPr>
              <a:t>3</a:t>
            </a:r>
            <a:endParaRPr lang="en-US" sz="1400" dirty="0"/>
          </a:p>
        </p:txBody>
      </p:sp>
      <p:sp>
        <p:nvSpPr>
          <p:cNvPr id="14" name="Text 11"/>
          <p:cNvSpPr txBox="1"/>
          <p:nvPr/>
        </p:nvSpPr>
        <p:spPr>
          <a:xfrm>
            <a:off x="9034272" y="3822192"/>
            <a:ext cx="2624328" cy="104698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300"/>
              </a:spcAft>
              <a:buNone/>
            </a:pPr>
            <a:r>
              <a:rPr lang="en-US" sz="1500" b="1" dirty="0">
                <a:solidFill>
                  <a:schemeClr val="tx2"/>
                </a:solidFill>
              </a:rPr>
              <a:t>Versionado</a:t>
            </a:r>
            <a:endParaRPr lang="en-US" sz="1500" dirty="0"/>
          </a:p>
          <a:p>
            <a:pPr indent="0" marL="0">
              <a:spcAft>
                <a:spcPts val="300"/>
              </a:spcAft>
              <a:buNone/>
            </a:pPr>
            <a:r>
              <a:rPr lang="en-US" sz="1400" dirty="0">
                <a:solidFill>
                  <a:schemeClr val="tx1"/>
                </a:solidFill>
              </a:rPr>
              <a:t>Cada cambio crea una versión nueva enviada a la Gerencia.</a:t>
            </a:r>
            <a:endParaRPr lang="en-US" sz="1500" dirty="0"/>
          </a:p>
        </p:txBody>
      </p:sp>
      <p:sp>
        <p:nvSpPr>
          <p:cNvPr id="15" name="num-3"/>
          <p:cNvSpPr/>
          <p:nvPr/>
        </p:nvSpPr>
        <p:spPr>
          <a:xfrm>
            <a:off x="8503920" y="4978908"/>
            <a:ext cx="384048" cy="384048"/>
          </a:xfrm>
          <a:prstGeom prst="ellipse">
            <a:avLst/>
          </a:prstGeom>
          <a:solidFill>
            <a:schemeClr val="accent2"/>
          </a:solidFill>
          <a:ln/>
        </p:spPr>
      </p:sp>
      <p:sp>
        <p:nvSpPr>
          <p:cNvPr id="16" name="Text 13"/>
          <p:cNvSpPr txBox="1"/>
          <p:nvPr/>
        </p:nvSpPr>
        <p:spPr>
          <a:xfrm>
            <a:off x="8503920" y="4978908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chemeClr val="tx2"/>
                </a:solidFill>
              </a:rPr>
              <a:t>4</a:t>
            </a:r>
            <a:endParaRPr lang="en-US" sz="1400" dirty="0"/>
          </a:p>
        </p:txBody>
      </p:sp>
      <p:sp>
        <p:nvSpPr>
          <p:cNvPr id="17" name="Text 14"/>
          <p:cNvSpPr txBox="1"/>
          <p:nvPr/>
        </p:nvSpPr>
        <p:spPr>
          <a:xfrm>
            <a:off x="9034272" y="4942332"/>
            <a:ext cx="2624328" cy="104698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300"/>
              </a:spcAft>
              <a:buNone/>
            </a:pPr>
            <a:r>
              <a:rPr lang="en-US" sz="1500" b="1" dirty="0">
                <a:solidFill>
                  <a:schemeClr val="tx2"/>
                </a:solidFill>
              </a:rPr>
              <a:t>Reutilizable</a:t>
            </a:r>
            <a:endParaRPr lang="en-US" sz="1500" dirty="0"/>
          </a:p>
          <a:p>
            <a:pPr indent="0" marL="0">
              <a:spcAft>
                <a:spcPts val="300"/>
              </a:spcAft>
              <a:buNone/>
            </a:pPr>
            <a:r>
              <a:rPr lang="en-US" sz="1400" dirty="0">
                <a:solidFill>
                  <a:schemeClr val="tx1"/>
                </a:solidFill>
              </a:rPr>
              <a:t>Usar como base para otra vía.</a:t>
            </a:r>
            <a:endParaRPr lang="en-US" sz="15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55680" y="640080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8A97AB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24</a:t>
            </a:fld>
            <a:endParaRPr lang="en-US"/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110642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200" b="1" dirty="0">
                <a:solidFill>
                  <a:schemeClr val="tx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Editor de plantilla</a:t>
            </a:r>
            <a:endParaRPr lang="en-US" sz="3200" dirty="0"/>
          </a:p>
        </p:txBody>
      </p:sp>
      <p:sp>
        <p:nvSpPr>
          <p:cNvPr id="3" name="Text 0"/>
          <p:cNvSpPr/>
          <p:nvPr>
            <p:ph idx="101" type="body" hasCustomPrompt="1"/>
          </p:nvPr>
        </p:nvSpPr>
        <p:spPr>
          <a:xfrm>
            <a:off x="548640" y="960120"/>
            <a:ext cx="110642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600" dirty="0">
                <a:solidFill>
                  <a:schemeClr val="accent6"/>
                </a:solidFill>
              </a:rPr>
              <a:t>Parte de las etapas normativas base de la vía y las ajusta</a:t>
            </a:r>
            <a:endParaRPr lang="en-US" sz="1600" dirty="0"/>
          </a:p>
        </p:txBody>
      </p:sp>
      <p:sp>
        <p:nvSpPr>
          <p:cNvPr id="4" name="marco-p-plantilla-nueva"/>
          <p:cNvSpPr/>
          <p:nvPr/>
        </p:nvSpPr>
        <p:spPr>
          <a:xfrm>
            <a:off x="548640" y="1554480"/>
            <a:ext cx="7589520" cy="4532630"/>
          </a:xfrm>
          <a:prstGeom prst="rect">
            <a:avLst/>
          </a:prstGeom>
          <a:solidFill>
            <a:srgbClr val="FFFFFF"/>
          </a:solidFill>
          <a:ln w="9525">
            <a:solidFill>
              <a:srgbClr val="D5DBE5"/>
            </a:solidFill>
            <a:prstDash val="solid"/>
          </a:ln>
          <a:effectLst>
            <a:outerShdw sx="100000" sy="100000" kx="0" ky="0" algn="bl" rotWithShape="0" blurRad="101600" dist="25400" dir="5400000">
              <a:srgbClr val="000000">
                <a:alpha val="18000"/>
              </a:srgbClr>
            </a:outerShdw>
          </a:effectLst>
        </p:spPr>
      </p:sp>
      <p:pic>
        <p:nvPicPr>
          <p:cNvPr id="5" name="captura-p-plantilla-nueva" descr="Captura de pantalla: p-plantilla-nueva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48640" y="1554480"/>
            <a:ext cx="7589520" cy="4532630"/>
          </a:xfrm>
          <a:prstGeom prst="rect">
            <a:avLst/>
          </a:prstGeom>
        </p:spPr>
      </p:pic>
      <p:sp>
        <p:nvSpPr>
          <p:cNvPr id="6" name="num-0"/>
          <p:cNvSpPr/>
          <p:nvPr/>
        </p:nvSpPr>
        <p:spPr>
          <a:xfrm>
            <a:off x="8503920" y="1618488"/>
            <a:ext cx="384048" cy="384048"/>
          </a:xfrm>
          <a:prstGeom prst="ellipse">
            <a:avLst/>
          </a:prstGeom>
          <a:solidFill>
            <a:schemeClr val="accent2"/>
          </a:solidFill>
          <a:ln/>
        </p:spPr>
      </p:sp>
      <p:sp>
        <p:nvSpPr>
          <p:cNvPr id="7" name="Text 4"/>
          <p:cNvSpPr txBox="1"/>
          <p:nvPr/>
        </p:nvSpPr>
        <p:spPr>
          <a:xfrm>
            <a:off x="8503920" y="1618488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chemeClr val="tx2"/>
                </a:solidFill>
              </a:rPr>
              <a:t>1</a:t>
            </a:r>
            <a:endParaRPr lang="en-US" sz="1400" dirty="0"/>
          </a:p>
        </p:txBody>
      </p:sp>
      <p:sp>
        <p:nvSpPr>
          <p:cNvPr id="8" name="Text 5"/>
          <p:cNvSpPr txBox="1"/>
          <p:nvPr/>
        </p:nvSpPr>
        <p:spPr>
          <a:xfrm>
            <a:off x="9034272" y="1581912"/>
            <a:ext cx="2624328" cy="104698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300"/>
              </a:spcAft>
              <a:buNone/>
            </a:pPr>
            <a:r>
              <a:rPr lang="en-US" sz="1500" b="1" dirty="0">
                <a:solidFill>
                  <a:schemeClr val="tx2"/>
                </a:solidFill>
              </a:rPr>
              <a:t>Plazo por tarea</a:t>
            </a:r>
            <a:endParaRPr lang="en-US" sz="1500" dirty="0"/>
          </a:p>
          <a:p>
            <a:pPr indent="0" marL="0">
              <a:spcAft>
                <a:spcPts val="300"/>
              </a:spcAft>
              <a:buNone/>
            </a:pPr>
            <a:r>
              <a:rPr lang="en-US" sz="1400" dirty="0">
                <a:solidFill>
                  <a:schemeClr val="tx1"/>
                </a:solidFill>
              </a:rPr>
              <a:t>Días hábiles o calendario, o vacío = por definir.</a:t>
            </a:r>
            <a:endParaRPr lang="en-US" sz="1500" dirty="0"/>
          </a:p>
        </p:txBody>
      </p:sp>
      <p:sp>
        <p:nvSpPr>
          <p:cNvPr id="9" name="num-1"/>
          <p:cNvSpPr/>
          <p:nvPr/>
        </p:nvSpPr>
        <p:spPr>
          <a:xfrm>
            <a:off x="8503920" y="2738628"/>
            <a:ext cx="384048" cy="384048"/>
          </a:xfrm>
          <a:prstGeom prst="ellipse">
            <a:avLst/>
          </a:prstGeom>
          <a:solidFill>
            <a:schemeClr val="accent2"/>
          </a:solidFill>
          <a:ln/>
        </p:spPr>
      </p:sp>
      <p:sp>
        <p:nvSpPr>
          <p:cNvPr id="10" name="Text 7"/>
          <p:cNvSpPr txBox="1"/>
          <p:nvPr/>
        </p:nvSpPr>
        <p:spPr>
          <a:xfrm>
            <a:off x="8503920" y="2738628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chemeClr val="tx2"/>
                </a:solidFill>
              </a:rPr>
              <a:t>2</a:t>
            </a:r>
            <a:endParaRPr lang="en-US" sz="1400" dirty="0"/>
          </a:p>
        </p:txBody>
      </p:sp>
      <p:sp>
        <p:nvSpPr>
          <p:cNvPr id="11" name="Text 8"/>
          <p:cNvSpPr txBox="1"/>
          <p:nvPr/>
        </p:nvSpPr>
        <p:spPr>
          <a:xfrm>
            <a:off x="9034272" y="2702052"/>
            <a:ext cx="2624328" cy="104698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300"/>
              </a:spcAft>
              <a:buNone/>
            </a:pPr>
            <a:r>
              <a:rPr lang="en-US" sz="1500" b="1" dirty="0">
                <a:solidFill>
                  <a:schemeClr val="tx2"/>
                </a:solidFill>
              </a:rPr>
              <a:t>Cuenta desde</a:t>
            </a:r>
            <a:endParaRPr lang="en-US" sz="1500" dirty="0"/>
          </a:p>
          <a:p>
            <a:pPr indent="0" marL="0">
              <a:spcAft>
                <a:spcPts val="300"/>
              </a:spcAft>
              <a:buNone/>
            </a:pPr>
            <a:r>
              <a:rPr lang="en-US" sz="1400" dirty="0">
                <a:solidFill>
                  <a:schemeClr val="tx1"/>
                </a:solidFill>
              </a:rPr>
              <a:t>Inicio del proceso o fin de la antecesora.</a:t>
            </a:r>
            <a:endParaRPr lang="en-US" sz="1500" dirty="0"/>
          </a:p>
        </p:txBody>
      </p:sp>
      <p:sp>
        <p:nvSpPr>
          <p:cNvPr id="12" name="num-2"/>
          <p:cNvSpPr/>
          <p:nvPr/>
        </p:nvSpPr>
        <p:spPr>
          <a:xfrm>
            <a:off x="8503920" y="3858768"/>
            <a:ext cx="384048" cy="384048"/>
          </a:xfrm>
          <a:prstGeom prst="ellipse">
            <a:avLst/>
          </a:prstGeom>
          <a:solidFill>
            <a:schemeClr val="accent2"/>
          </a:solidFill>
          <a:ln/>
        </p:spPr>
      </p:sp>
      <p:sp>
        <p:nvSpPr>
          <p:cNvPr id="13" name="Text 10"/>
          <p:cNvSpPr txBox="1"/>
          <p:nvPr/>
        </p:nvSpPr>
        <p:spPr>
          <a:xfrm>
            <a:off x="8503920" y="3858768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chemeClr val="tx2"/>
                </a:solidFill>
              </a:rPr>
              <a:t>3</a:t>
            </a:r>
            <a:endParaRPr lang="en-US" sz="1400" dirty="0"/>
          </a:p>
        </p:txBody>
      </p:sp>
      <p:sp>
        <p:nvSpPr>
          <p:cNvPr id="14" name="Text 11"/>
          <p:cNvSpPr txBox="1"/>
          <p:nvPr/>
        </p:nvSpPr>
        <p:spPr>
          <a:xfrm>
            <a:off x="9034272" y="3822192"/>
            <a:ext cx="2624328" cy="104698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300"/>
              </a:spcAft>
              <a:buNone/>
            </a:pPr>
            <a:r>
              <a:rPr lang="en-US" sz="1500" b="1" dirty="0">
                <a:solidFill>
                  <a:schemeClr val="tx2"/>
                </a:solidFill>
              </a:rPr>
              <a:t>Antecesora</a:t>
            </a:r>
            <a:endParaRPr lang="en-US" sz="1500" dirty="0"/>
          </a:p>
          <a:p>
            <a:pPr indent="0" marL="0">
              <a:spcAft>
                <a:spcPts val="300"/>
              </a:spcAft>
              <a:buNone/>
            </a:pPr>
            <a:r>
              <a:rPr lang="en-US" sz="1400" dirty="0">
                <a:solidFill>
                  <a:schemeClr val="tx1"/>
                </a:solidFill>
              </a:rPr>
              <a:t>Secuencial, en paralelo o una tarea anterior específica.</a:t>
            </a:r>
            <a:endParaRPr lang="en-US" sz="1500" dirty="0"/>
          </a:p>
        </p:txBody>
      </p:sp>
      <p:sp>
        <p:nvSpPr>
          <p:cNvPr id="15" name="num-3"/>
          <p:cNvSpPr/>
          <p:nvPr/>
        </p:nvSpPr>
        <p:spPr>
          <a:xfrm>
            <a:off x="8503920" y="4978908"/>
            <a:ext cx="384048" cy="384048"/>
          </a:xfrm>
          <a:prstGeom prst="ellipse">
            <a:avLst/>
          </a:prstGeom>
          <a:solidFill>
            <a:schemeClr val="accent2"/>
          </a:solidFill>
          <a:ln/>
        </p:spPr>
      </p:sp>
      <p:sp>
        <p:nvSpPr>
          <p:cNvPr id="16" name="Text 13"/>
          <p:cNvSpPr txBox="1"/>
          <p:nvPr/>
        </p:nvSpPr>
        <p:spPr>
          <a:xfrm>
            <a:off x="8503920" y="4978908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chemeClr val="tx2"/>
                </a:solidFill>
              </a:rPr>
              <a:t>4</a:t>
            </a:r>
            <a:endParaRPr lang="en-US" sz="1400" dirty="0"/>
          </a:p>
        </p:txBody>
      </p:sp>
      <p:sp>
        <p:nvSpPr>
          <p:cNvPr id="17" name="Text 14"/>
          <p:cNvSpPr txBox="1"/>
          <p:nvPr/>
        </p:nvSpPr>
        <p:spPr>
          <a:xfrm>
            <a:off x="9034272" y="4942332"/>
            <a:ext cx="2624328" cy="104698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300"/>
              </a:spcAft>
              <a:buNone/>
            </a:pPr>
            <a:r>
              <a:rPr lang="en-US" sz="1500" b="1" dirty="0">
                <a:solidFill>
                  <a:schemeClr val="tx2"/>
                </a:solidFill>
              </a:rPr>
              <a:t>Base legal</a:t>
            </a:r>
            <a:endParaRPr lang="en-US" sz="1500" dirty="0"/>
          </a:p>
          <a:p>
            <a:pPr indent="0" marL="0">
              <a:spcAft>
                <a:spcPts val="300"/>
              </a:spcAft>
              <a:buNone/>
            </a:pPr>
            <a:r>
              <a:rPr lang="en-US" sz="1400" dirty="0">
                <a:solidFill>
                  <a:schemeClr val="tx1"/>
                </a:solidFill>
              </a:rPr>
              <a:t>Referencia normativa (CPC, NLPT, TUO Ley 27584…).</a:t>
            </a:r>
            <a:endParaRPr lang="en-US" sz="15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55680" y="640080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8A97AB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25</a:t>
            </a:fld>
            <a:endParaRPr lang="en-US"/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110642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200" b="1" dirty="0">
                <a:solidFill>
                  <a:schemeClr val="tx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Extensión Conector SGD</a:t>
            </a:r>
            <a:endParaRPr lang="en-US" sz="3200" dirty="0"/>
          </a:p>
        </p:txBody>
      </p:sp>
      <p:sp>
        <p:nvSpPr>
          <p:cNvPr id="3" name="Text 0"/>
          <p:cNvSpPr/>
          <p:nvPr>
            <p:ph idx="101" type="body" hasCustomPrompt="1"/>
          </p:nvPr>
        </p:nvSpPr>
        <p:spPr>
          <a:xfrm>
            <a:off x="548640" y="960120"/>
            <a:ext cx="110642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600" dirty="0">
                <a:solidFill>
                  <a:schemeClr val="accent6"/>
                </a:solidFill>
              </a:rPr>
              <a:t>Indexa trámites del SGD directamente desde Chrome</a:t>
            </a:r>
            <a:endParaRPr lang="en-US" sz="1600" dirty="0"/>
          </a:p>
        </p:txBody>
      </p:sp>
      <p:sp>
        <p:nvSpPr>
          <p:cNvPr id="4" name="marco-p-extension"/>
          <p:cNvSpPr/>
          <p:nvPr/>
        </p:nvSpPr>
        <p:spPr>
          <a:xfrm>
            <a:off x="548640" y="1554480"/>
            <a:ext cx="7589520" cy="4532630"/>
          </a:xfrm>
          <a:prstGeom prst="rect">
            <a:avLst/>
          </a:prstGeom>
          <a:solidFill>
            <a:srgbClr val="FFFFFF"/>
          </a:solidFill>
          <a:ln w="9525">
            <a:solidFill>
              <a:srgbClr val="D5DBE5"/>
            </a:solidFill>
            <a:prstDash val="solid"/>
          </a:ln>
          <a:effectLst>
            <a:outerShdw sx="100000" sy="100000" kx="0" ky="0" algn="bl" rotWithShape="0" blurRad="101600" dist="25400" dir="5400000">
              <a:srgbClr val="000000">
                <a:alpha val="18000"/>
              </a:srgbClr>
            </a:outerShdw>
          </a:effectLst>
        </p:spPr>
      </p:sp>
      <p:pic>
        <p:nvPicPr>
          <p:cNvPr id="5" name="captura-p-extension" descr="Captura de pantalla: p-extension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48640" y="1554480"/>
            <a:ext cx="7589520" cy="4532630"/>
          </a:xfrm>
          <a:prstGeom prst="rect">
            <a:avLst/>
          </a:prstGeom>
        </p:spPr>
      </p:pic>
      <p:sp>
        <p:nvSpPr>
          <p:cNvPr id="6" name="num-0"/>
          <p:cNvSpPr/>
          <p:nvPr/>
        </p:nvSpPr>
        <p:spPr>
          <a:xfrm>
            <a:off x="8503920" y="1618488"/>
            <a:ext cx="384048" cy="384048"/>
          </a:xfrm>
          <a:prstGeom prst="ellipse">
            <a:avLst/>
          </a:prstGeom>
          <a:solidFill>
            <a:schemeClr val="accent2"/>
          </a:solidFill>
          <a:ln/>
        </p:spPr>
      </p:sp>
      <p:sp>
        <p:nvSpPr>
          <p:cNvPr id="7" name="Text 4"/>
          <p:cNvSpPr txBox="1"/>
          <p:nvPr/>
        </p:nvSpPr>
        <p:spPr>
          <a:xfrm>
            <a:off x="8503920" y="1618488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chemeClr val="tx2"/>
                </a:solidFill>
              </a:rPr>
              <a:t>1</a:t>
            </a:r>
            <a:endParaRPr lang="en-US" sz="1400" dirty="0"/>
          </a:p>
        </p:txBody>
      </p:sp>
      <p:sp>
        <p:nvSpPr>
          <p:cNvPr id="8" name="Text 5"/>
          <p:cNvSpPr txBox="1"/>
          <p:nvPr/>
        </p:nvSpPr>
        <p:spPr>
          <a:xfrm>
            <a:off x="9034272" y="1581912"/>
            <a:ext cx="2624328" cy="104698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300"/>
              </a:spcAft>
              <a:buNone/>
            </a:pPr>
            <a:r>
              <a:rPr lang="en-US" sz="1500" b="1" dirty="0">
                <a:solidFill>
                  <a:schemeClr val="tx2"/>
                </a:solidFill>
              </a:rPr>
              <a:t>Instalación guiada</a:t>
            </a:r>
            <a:endParaRPr lang="en-US" sz="1500" dirty="0"/>
          </a:p>
          <a:p>
            <a:pPr indent="0" marL="0">
              <a:spcAft>
                <a:spcPts val="300"/>
              </a:spcAft>
              <a:buNone/>
            </a:pPr>
            <a:r>
              <a:rPr lang="en-US" sz="1400" dirty="0">
                <a:solidFill>
                  <a:schemeClr val="tx1"/>
                </a:solidFill>
              </a:rPr>
              <a:t>Descarga el .zip ya configurado para el servidor.</a:t>
            </a:r>
            <a:endParaRPr lang="en-US" sz="1500" dirty="0"/>
          </a:p>
        </p:txBody>
      </p:sp>
      <p:sp>
        <p:nvSpPr>
          <p:cNvPr id="9" name="num-1"/>
          <p:cNvSpPr/>
          <p:nvPr/>
        </p:nvSpPr>
        <p:spPr>
          <a:xfrm>
            <a:off x="8503920" y="2738628"/>
            <a:ext cx="384048" cy="384048"/>
          </a:xfrm>
          <a:prstGeom prst="ellipse">
            <a:avLst/>
          </a:prstGeom>
          <a:solidFill>
            <a:schemeClr val="accent2"/>
          </a:solidFill>
          <a:ln/>
        </p:spPr>
      </p:sp>
      <p:sp>
        <p:nvSpPr>
          <p:cNvPr id="10" name="Text 7"/>
          <p:cNvSpPr txBox="1"/>
          <p:nvPr/>
        </p:nvSpPr>
        <p:spPr>
          <a:xfrm>
            <a:off x="8503920" y="2738628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chemeClr val="tx2"/>
                </a:solidFill>
              </a:rPr>
              <a:t>2</a:t>
            </a:r>
            <a:endParaRPr lang="en-US" sz="1400" dirty="0"/>
          </a:p>
        </p:txBody>
      </p:sp>
      <p:sp>
        <p:nvSpPr>
          <p:cNvPr id="11" name="Text 8"/>
          <p:cNvSpPr txBox="1"/>
          <p:nvPr/>
        </p:nvSpPr>
        <p:spPr>
          <a:xfrm>
            <a:off x="9034272" y="2702052"/>
            <a:ext cx="2624328" cy="104698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300"/>
              </a:spcAft>
              <a:buNone/>
            </a:pPr>
            <a:r>
              <a:rPr lang="en-US" sz="1500" b="1" dirty="0">
                <a:solidFill>
                  <a:schemeClr val="tx2"/>
                </a:solidFill>
              </a:rPr>
              <a:t>Lee el trámite</a:t>
            </a:r>
            <a:endParaRPr lang="en-US" sz="1500" dirty="0"/>
          </a:p>
          <a:p>
            <a:pPr indent="0" marL="0">
              <a:spcAft>
                <a:spcPts val="300"/>
              </a:spcAft>
              <a:buNone/>
            </a:pPr>
            <a:r>
              <a:rPr lang="en-US" sz="1400" dirty="0">
                <a:solidFill>
                  <a:schemeClr val="tx1"/>
                </a:solidFill>
              </a:rPr>
              <a:t>N.º, asunto y fecha de ingreso desde el detalle del SGD.</a:t>
            </a:r>
            <a:endParaRPr lang="en-US" sz="1500" dirty="0"/>
          </a:p>
        </p:txBody>
      </p:sp>
      <p:sp>
        <p:nvSpPr>
          <p:cNvPr id="12" name="num-2"/>
          <p:cNvSpPr/>
          <p:nvPr/>
        </p:nvSpPr>
        <p:spPr>
          <a:xfrm>
            <a:off x="8503920" y="3858768"/>
            <a:ext cx="384048" cy="384048"/>
          </a:xfrm>
          <a:prstGeom prst="ellipse">
            <a:avLst/>
          </a:prstGeom>
          <a:solidFill>
            <a:schemeClr val="accent2"/>
          </a:solidFill>
          <a:ln/>
        </p:spPr>
      </p:sp>
      <p:sp>
        <p:nvSpPr>
          <p:cNvPr id="13" name="Text 10"/>
          <p:cNvSpPr txBox="1"/>
          <p:nvPr/>
        </p:nvSpPr>
        <p:spPr>
          <a:xfrm>
            <a:off x="8503920" y="3858768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chemeClr val="tx2"/>
                </a:solidFill>
              </a:rPr>
              <a:t>3</a:t>
            </a:r>
            <a:endParaRPr lang="en-US" sz="1400" dirty="0"/>
          </a:p>
        </p:txBody>
      </p:sp>
      <p:sp>
        <p:nvSpPr>
          <p:cNvPr id="14" name="Text 11"/>
          <p:cNvSpPr txBox="1"/>
          <p:nvPr/>
        </p:nvSpPr>
        <p:spPr>
          <a:xfrm>
            <a:off x="9034272" y="3822192"/>
            <a:ext cx="2624328" cy="104698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300"/>
              </a:spcAft>
              <a:buNone/>
            </a:pPr>
            <a:r>
              <a:rPr lang="en-US" sz="1500" b="1" dirty="0">
                <a:solidFill>
                  <a:schemeClr val="tx2"/>
                </a:solidFill>
              </a:rPr>
              <a:t>Crear o anexar</a:t>
            </a:r>
            <a:endParaRPr lang="en-US" sz="1500" dirty="0"/>
          </a:p>
          <a:p>
            <a:pPr indent="0" marL="0">
              <a:spcAft>
                <a:spcPts val="300"/>
              </a:spcAft>
              <a:buNone/>
            </a:pPr>
            <a:r>
              <a:rPr lang="en-US" sz="1400" dirty="0">
                <a:solidFill>
                  <a:schemeClr val="tx1"/>
                </a:solidFill>
              </a:rPr>
              <a:t>El abogado solo ve sus propios procesos y vías aprobadas.</a:t>
            </a:r>
            <a:endParaRPr lang="en-US" sz="1500" dirty="0"/>
          </a:p>
        </p:txBody>
      </p:sp>
      <p:sp>
        <p:nvSpPr>
          <p:cNvPr id="15" name="num-3"/>
          <p:cNvSpPr/>
          <p:nvPr/>
        </p:nvSpPr>
        <p:spPr>
          <a:xfrm>
            <a:off x="8503920" y="4978908"/>
            <a:ext cx="384048" cy="384048"/>
          </a:xfrm>
          <a:prstGeom prst="ellipse">
            <a:avLst/>
          </a:prstGeom>
          <a:solidFill>
            <a:schemeClr val="accent2"/>
          </a:solidFill>
          <a:ln/>
        </p:spPr>
      </p:sp>
      <p:sp>
        <p:nvSpPr>
          <p:cNvPr id="16" name="Text 13"/>
          <p:cNvSpPr txBox="1"/>
          <p:nvPr/>
        </p:nvSpPr>
        <p:spPr>
          <a:xfrm>
            <a:off x="8503920" y="4978908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chemeClr val="tx2"/>
                </a:solidFill>
              </a:rPr>
              <a:t>4</a:t>
            </a:r>
            <a:endParaRPr lang="en-US" sz="1400" dirty="0"/>
          </a:p>
        </p:txBody>
      </p:sp>
      <p:sp>
        <p:nvSpPr>
          <p:cNvPr id="17" name="Text 14"/>
          <p:cNvSpPr txBox="1"/>
          <p:nvPr/>
        </p:nvSpPr>
        <p:spPr>
          <a:xfrm>
            <a:off x="9034272" y="4942332"/>
            <a:ext cx="2624328" cy="104698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300"/>
              </a:spcAft>
              <a:buNone/>
            </a:pPr>
            <a:r>
              <a:rPr lang="en-US" sz="1500" b="1" dirty="0">
                <a:solidFill>
                  <a:schemeClr val="tx2"/>
                </a:solidFill>
              </a:rPr>
              <a:t>Solo lectura</a:t>
            </a:r>
            <a:endParaRPr lang="en-US" sz="1500" dirty="0"/>
          </a:p>
          <a:p>
            <a:pPr indent="0" marL="0">
              <a:spcAft>
                <a:spcPts val="300"/>
              </a:spcAft>
              <a:buNone/>
            </a:pPr>
            <a:r>
              <a:rPr lang="en-US" sz="1400" dirty="0">
                <a:solidFill>
                  <a:schemeClr val="tx1"/>
                </a:solidFill>
              </a:rPr>
              <a:t>No hace clics en el SGD ni lee contenido confidencial.</a:t>
            </a:r>
            <a:endParaRPr lang="en-US" sz="15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55680" y="640080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8A97AB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26</a:t>
            </a:fld>
            <a:endParaRPr lang="en-US"/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731520" y="1463040"/>
            <a:ext cx="585216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algn="l" indent="0" marL="0">
              <a:buNone/>
            </a:pPr>
            <a:r>
              <a:rPr lang="en-US" sz="4400" b="1" dirty="0">
                <a:solidFill>
                  <a:schemeClr val="bg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En resumen</a:t>
            </a:r>
            <a:endParaRPr lang="en-US" sz="4400" dirty="0"/>
          </a:p>
        </p:txBody>
      </p:sp>
      <p:sp>
        <p:nvSpPr>
          <p:cNvPr id="3" name="Text 0"/>
          <p:cNvSpPr/>
          <p:nvPr>
            <p:ph idx="101" type="body" hasCustomPrompt="1"/>
          </p:nvPr>
        </p:nvSpPr>
        <p:spPr>
          <a:xfrm>
            <a:off x="731520" y="2788920"/>
            <a:ext cx="548640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800" dirty="0">
                <a:solidFill>
                  <a:srgbClr val="CADCFC"/>
                </a:solidFill>
              </a:rPr>
              <a:t>Gerencia y Profesional comparten los mismos datos en tiempo real (sincronización cada 15 s)</a:t>
            </a:r>
            <a:endParaRPr lang="en-US" sz="1800" dirty="0"/>
          </a:p>
        </p:txBody>
      </p:sp>
      <p:sp>
        <p:nvSpPr>
          <p:cNvPr id="4" name="resumen-0"/>
          <p:cNvSpPr/>
          <p:nvPr/>
        </p:nvSpPr>
        <p:spPr>
          <a:xfrm>
            <a:off x="6949440" y="1097280"/>
            <a:ext cx="4663440" cy="1371600"/>
          </a:xfrm>
          <a:prstGeom prst="roundRect">
            <a:avLst>
              <a:gd name="adj" fmla="val 6667"/>
            </a:avLst>
          </a:prstGeom>
          <a:solidFill>
            <a:srgbClr val="1F4275"/>
          </a:solidFill>
          <a:ln/>
        </p:spPr>
      </p:sp>
      <p:pic>
        <p:nvPicPr>
          <p:cNvPr id="5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178040" y="1325880"/>
            <a:ext cx="457200" cy="457200"/>
          </a:xfrm>
          <a:prstGeom prst="rect">
            <a:avLst/>
          </a:prstGeom>
        </p:spPr>
      </p:pic>
      <p:sp>
        <p:nvSpPr>
          <p:cNvPr id="6" name="Text 3"/>
          <p:cNvSpPr txBox="1"/>
          <p:nvPr/>
        </p:nvSpPr>
        <p:spPr>
          <a:xfrm>
            <a:off x="7863840" y="1188720"/>
            <a:ext cx="356616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700" b="1" dirty="0">
                <a:solidFill>
                  <a:srgbClr val="FFFFFF"/>
                </a:solidFill>
              </a:rPr>
              <a:t>Gerencia</a:t>
            </a:r>
            <a:endParaRPr lang="en-US" sz="1700" dirty="0"/>
          </a:p>
          <a:p>
            <a:pPr indent="0" marL="0">
              <a:buNone/>
            </a:pPr>
            <a:r>
              <a:rPr lang="en-US" sz="1400" dirty="0">
                <a:solidFill>
                  <a:srgbClr val="E1E8F4"/>
                </a:solidFill>
              </a:rPr>
              <a:t>Ve toda la cartera, mide con KPI y SPI, aprueba plantillas, reasigna y solicita plazos.</a:t>
            </a:r>
            <a:endParaRPr lang="en-US" sz="1700" dirty="0"/>
          </a:p>
        </p:txBody>
      </p:sp>
      <p:sp>
        <p:nvSpPr>
          <p:cNvPr id="7" name="resumen-1"/>
          <p:cNvSpPr/>
          <p:nvPr/>
        </p:nvSpPr>
        <p:spPr>
          <a:xfrm>
            <a:off x="6949440" y="2697480"/>
            <a:ext cx="4663440" cy="1371600"/>
          </a:xfrm>
          <a:prstGeom prst="roundRect">
            <a:avLst>
              <a:gd name="adj" fmla="val 6667"/>
            </a:avLst>
          </a:prstGeom>
          <a:solidFill>
            <a:srgbClr val="1F4275"/>
          </a:solidFill>
          <a:ln/>
        </p:spPr>
      </p:sp>
      <p:pic>
        <p:nvPicPr>
          <p:cNvPr id="8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178040" y="2926080"/>
            <a:ext cx="457200" cy="457200"/>
          </a:xfrm>
          <a:prstGeom prst="rect">
            <a:avLst/>
          </a:prstGeom>
        </p:spPr>
      </p:pic>
      <p:sp>
        <p:nvSpPr>
          <p:cNvPr id="9" name="Text 5"/>
          <p:cNvSpPr txBox="1"/>
          <p:nvPr/>
        </p:nvSpPr>
        <p:spPr>
          <a:xfrm>
            <a:off x="7863840" y="2788920"/>
            <a:ext cx="356616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700" b="1" dirty="0">
                <a:solidFill>
                  <a:srgbClr val="FFFFFF"/>
                </a:solidFill>
              </a:rPr>
              <a:t>Profesional</a:t>
            </a:r>
            <a:endParaRPr lang="en-US" sz="1700" dirty="0"/>
          </a:p>
          <a:p>
            <a:pPr indent="0" marL="0">
              <a:buNone/>
            </a:pPr>
            <a:r>
              <a:rPr lang="en-US" sz="1400" dirty="0">
                <a:solidFill>
                  <a:srgbClr val="E1E8F4"/>
                </a:solidFill>
              </a:rPr>
              <a:t>Diseña su ciclo, avanza tareas en el tablero, define plazos y atiende alertas.</a:t>
            </a:r>
            <a:endParaRPr lang="en-US" sz="1700" dirty="0"/>
          </a:p>
        </p:txBody>
      </p:sp>
      <p:sp>
        <p:nvSpPr>
          <p:cNvPr id="10" name="resumen-2"/>
          <p:cNvSpPr/>
          <p:nvPr/>
        </p:nvSpPr>
        <p:spPr>
          <a:xfrm>
            <a:off x="6949440" y="4297680"/>
            <a:ext cx="4663440" cy="1371600"/>
          </a:xfrm>
          <a:prstGeom prst="roundRect">
            <a:avLst>
              <a:gd name="adj" fmla="val 6667"/>
            </a:avLst>
          </a:prstGeom>
          <a:solidFill>
            <a:srgbClr val="1F4275"/>
          </a:solidFill>
          <a:ln/>
        </p:spPr>
      </p:sp>
      <p:pic>
        <p:nvPicPr>
          <p:cNvPr id="11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178040" y="4526280"/>
            <a:ext cx="457200" cy="457200"/>
          </a:xfrm>
          <a:prstGeom prst="rect">
            <a:avLst/>
          </a:prstGeom>
        </p:spPr>
      </p:pic>
      <p:sp>
        <p:nvSpPr>
          <p:cNvPr id="12" name="Text 7"/>
          <p:cNvSpPr txBox="1"/>
          <p:nvPr/>
        </p:nvSpPr>
        <p:spPr>
          <a:xfrm>
            <a:off x="7863840" y="4389120"/>
            <a:ext cx="356616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700" b="1" dirty="0">
                <a:solidFill>
                  <a:srgbClr val="FFFFFF"/>
                </a:solidFill>
              </a:rPr>
              <a:t>Alertas compartidas</a:t>
            </a:r>
            <a:endParaRPr lang="en-US" sz="1700" dirty="0"/>
          </a:p>
          <a:p>
            <a:pPr indent="0" marL="0">
              <a:buNone/>
            </a:pPr>
            <a:r>
              <a:rPr lang="en-US" sz="1400" dirty="0">
                <a:solidFill>
                  <a:srgbClr val="E1E8F4"/>
                </a:solidFill>
              </a:rPr>
              <a:t>Retrocesos, solicitudes y plantillas conectan ambos roles sin correos ni papel.</a:t>
            </a:r>
            <a:endParaRPr lang="en-US" sz="17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55680" y="640080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9FB3D1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27</a:t>
            </a:fld>
            <a:endParaRPr lang="en-US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LEGAL">
  <a:themeElements>
    <a:clrScheme name="LEGAL">
      <a:dk1>
        <a:srgbClr val="1B2433"/>
      </a:dk1>
      <a:lt1>
        <a:srgbClr val="FFFFFF"/>
      </a:lt1>
      <a:dk2>
        <a:srgbClr val="14305A"/>
      </a:dk2>
      <a:lt2>
        <a:srgbClr val="F2F4F8"/>
      </a:lt2>
      <a:accent1>
        <a:srgbClr val="14305A"/>
      </a:accent1>
      <a:accent2>
        <a:srgbClr val="D9A21B"/>
      </a:accent2>
      <a:accent3>
        <a:srgbClr val="C0392B"/>
      </a:accent3>
      <a:accent4>
        <a:srgbClr val="E8A317"/>
      </a:accent4>
      <a:accent5>
        <a:srgbClr val="2E8B57"/>
      </a:accent5>
      <a:accent6>
        <a:srgbClr val="5B6B82"/>
      </a:accent6>
      <a:hlink>
        <a:srgbClr val="1F5FA8"/>
      </a:hlink>
      <a:folHlink>
        <a:srgbClr val="6B4E9B"/>
      </a:folHlink>
    </a:clrScheme>
    <a:fontScheme name="LEGAL">
      <a:majorFont>
        <a:latin typeface="Cambria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27</Slides>
  <Notes>27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27</vt:i4>
      </vt:variant>
    </vt:vector>
  </HeadingPairs>
  <TitlesOfParts>
    <vt:vector size="30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  <vt:lpstr>Slide 17</vt:lpstr>
      <vt:lpstr>Slide 18</vt:lpstr>
      <vt:lpstr>Slide 19</vt:lpstr>
      <vt:lpstr>Slide 20</vt:lpstr>
      <vt:lpstr>Slide 21</vt:lpstr>
      <vt:lpstr>Slide 22</vt:lpstr>
      <vt:lpstr>Slide 23</vt:lpstr>
      <vt:lpstr>Slide 24</vt:lpstr>
      <vt:lpstr>Slide 25</vt:lpstr>
      <vt:lpstr>Slide 26</vt:lpstr>
      <vt:lpstr>Slide 27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LEGAL · Módulos de Gerencia y Profesional</dc:title>
  <dc:subject>PptxGenJS Presentation</dc:subject>
  <dc:creator>Gerencia de Asesoría Jurídica</dc:creator>
  <cp:lastModifiedBy>Gerencia de Asesoría Jurídica</cp:lastModifiedBy>
  <cp:revision>1</cp:revision>
  <dcterms:created xsi:type="dcterms:W3CDTF">2026-10-20T05:22:02Z</dcterms:created>
  <dcterms:modified xsi:type="dcterms:W3CDTF">2026-10-20T05:22:02Z</dcterms:modified>
</cp:coreProperties>
</file>